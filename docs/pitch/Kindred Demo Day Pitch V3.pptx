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20"/>
    <p:sldId id="269" r:id="rId21"/>
    <p:sldId id="270" r:id="rId22"/>
    <p:sldId id="271" r:id="rId23"/>
    <p:sldId id="272" r:id="rId24"/>
    <p:sldId id="273" r:id="rId25"/>
    <p:sldId id="274" r:id="rId26"/>
    <p:sldId id="275" r:id="rId27"/>
    <p:sldId id="276"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03590-B6BD-4E9E-AB9C-60BF98F4D06F}" v="42" dt="2026-10-14T22:44:26.1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0128AEF4-CAE9-4C43-9651-234C5BBA9E0A}" type="datetimeFigureOut">
              <a:t>14/10/2026</a:t>
            </a:fld>
            <a:endParaRPr lang="en-GB"/>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DEC9B135-8175-470D-BF2C-7097ACB2DF64}" type="slidenum">
              <a:t>‹#›</a:t>
            </a:fld>
            <a:endParaRPr lang="en-GB"/>
          </a:p>
        </p:txBody>
      </p:sp>
    </p:spTree>
    <p:extLst>
      <p:ext uri="{BB962C8B-B14F-4D97-AF65-F5344CB8AC3E}">
        <p14:creationId xmlns:p14="http://schemas.microsoft.com/office/powerpoint/2010/main" val="2095322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Open with the question on screen and let it land. Then: "In most families, one sibling knows the answer and everyone else is guessing." The dashed question mark is Kindred's own symbol for a task nobody has claimed; we answer it on the insight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45 seconds. The chat on the right is an illustration, not a real conversation. Walk through it: the request gets reactions, nobody claims it, and the appointment is missed. Tasks get buried, appointments are missed or doubled up, and the real cost is burnout and resentment between siblings.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45 seconds. These figures are real published data: Caregiver Action Network's 2026 survey of 272 US family caregivers. Say "a US survey found", never "we found". If asked about limits: US respondents from a caregiver nonprofit's email list, not specific to siblings. The 26% is the share who said coordinating appointments, medications and family communication is where technology could help most, second only to safety monitoring at 28%. Backup only, if a judge asks what we did ourselves: we ran a synthetic pilot, with AI personas answering our survey questions, to test them. Say clearly that it's AI-generated, not real caregivers (docs/research/synthetic). Once real survey results come in, they can join this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30 seconds (part of the validation minute). The left column and the quote come from Caregiver Action Network's 2026 survey of 272 US caregivers: medications and appointment scheduling were the most time-consuming tasks, open-ended answers pointed to little or no backup support, and information scattered across systems was a top challenge. This slide shows product thinking: each need maps to something we built. Backup only, if asked: our synthetic AI-persona interviews pointed the same way (missed handoffs after appointments, cover falling back on the coordinator), but they're AI-generated, not real people. Replace or add real interview findings once we have them.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about 15 seconds. Click once: the question mark from the cover becomes Maya's avatar. That's the root cause and the fix in one moment. Families do care, but a thumbs-up isn't a commitment. Kindred turns care into tasks that someone claims.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about 30 seconds. Give the reason behind each decision. Claim instead of assign, because ownership has to be agreed to. One tap, because "my brother won't use another app." Work with WhatsApp and Google Calendar, because that's where families already are. Not clinical, to keep trust and avoid liability. The screens are from the working app, the same ones the judges will see in the demo. If asked about the design process: we started from 31 wireframes, then built the finished design. Evidence if asked: in Caregiver Action Network's 2026 survey of 272 US caregivers, 23% would rather use text or email than download an app, and 26% are open to apps only if they're easy to set up.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Speakers 2 and 3, about 2 minutes 30 seconds. Run the loop on two phones with the app on the Home Screen. Close with 10 seconds on the weekly summary (shown here) and the Free/Busy calendar check. Leave this slide up so judges can scan the code and join a sample Care Circle. Replace the dashed marigold box with the real QR code once the URL is final. Backup: the recorded demo video.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The coordinator feels the pain and pays; everyone they invite is free, so adoption isn't blocked. "Why pay when the group chat is free?" Founding families get their money back if Kindred doesn't help in 30 days. Evidence: in Caregiver Action Network's 2026 US survey, 28% would pay $11–25 a month for a tool that reduces stress, and we start at $5. If a judge pushes on price: only 12% would pay out of pocket and 32% say tools should be free. That's the risk, and it's why helpers are free, founding families get a money-back guarantee, and the pilot has to prove value.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Count families, not people: one coordinator pays for a circle of about three. Point at the last bar: our 3-year target is a sliver of the market, 2% of the families who need this.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Coordinators post in these groups at the moment of crisis: after a fall, a hospital discharge or a missed appointment. Founder-led and helpful, not advertising. The test has clear numbers for continuing or changing course. Evidence: in the same US survey, a trusted organization's recommendation was the #1 reason caregivers adopt a tool (131 of 272), ahead of ease of use and price. That's why our ask is introductions to elder-care organizations.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Kindred is additive: keep WhatsApp. The weekly summary of what happened and what's next has no real equivalent among the apps we looked at. If asked about CircleCare's contribution tracking: our weekly summary names who did what each week; a running tally over time isn't built yet.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about 30 seconds. Speaker 4 gives the next step and the ask (for example Family Caregivers of BC or Alzheimer Society chapters); speaker 1 finishes on the line in the middle. Stay within 7 minutes.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don't present this; jump here during Q&amp;A. A1 research, A2 pricing, A3 market size, A4 competition, A5 getting the family to join, A6 privacy and AI, A7 how it's built, A8 roadmap, metrics and risks. Drafted answers are in docs/pitch/judge-qa.md.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70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Who did you talk to? Does a US survey apply to Canada and to siblings? What's your riskiest assumption? Say 'a US survey found', never 'we found'. [TEAM] If the Round 1 and 2 discovery interviews were with real people, say how many and what they told us first. Only mention the AI-persona pilot if asked, and say it's AI-generated.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70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Why pay when WhatsApp is free? Most caregivers won't pay, so how does this work? Why no free tier like CircleCare? Answer: the coordinator pays for knowing who said yes; helpers are free; we start below the $11–25 band 28% would pay. Own the risk: only 12% would pay out of pocket, which is why we charge from day one, with a money-back guarantee.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70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How big is this? Why count circles, not people? Is the target realistic? We count families because one coordinator pays for a circle of about three. The 3-year target is 2% of the families who need this. Be ready to say the assumptions out loud: 3 caregivers per circle, 60% share care with family, $84 a year.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70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What stops CircleCare or WhatsApp from copying this? What's your moat? Be honest: there's no patent moat in a task app. The edge is focus (working inside the family chat, tasks someone claims, cover in one tap) plus distribution through trusted organizations. CircleCare's free tier: we charge from day one to learn whether families value it, with a money-back guarantee.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70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Will siblings really install another app? What's onboarding friction like? What's the aha moment? Helpers don't need to set much up: a link in the chat, sign in, tap Accept. The aha moment is the coordinator's card showing a name instead of a question mark. iPhone push needs a Home Screen install; onboarding guides it, and the in-app list and chat sharing mean nothing depends on push alone.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70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Is my mom's information safe? Where's the data? Where's the AI? Don't overclaim: there's no AI in the prototype, by choice, so no care information goes to an AI company and nothing can be read as medical advice. Row-level security means database rules decide who sees what, not the app.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70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How is it built? What if two siblings tap Accept at once? How do you test it? Will it scale? Only one claim wins: the database function checks the task is still open and assigns it in one step. Rules are tested with pgTAP; CI runs type checks, lint, unit tests and a build. Scale: standard Postgres and tiny data per family; push delivery and calendar API limits are what we'd watch.</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70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this answers: What's your one metric? How do you get to 100 families? What would make you stop? What are the risks? Two-week test: keep going if 5+ circles have 3+ members and 2+ families pay; change course if fewer than 3 in 30 conversations lead to a trial. Roadmap idea if asked: a 'What changed?' step on appointment updates.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70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8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9525000" cy="1005780"/>
          </a:xfrm>
          <a:prstGeom prst="rect">
            <a:avLst/>
          </a:prstGeom>
          <a:noFill/>
          <a:ln/>
        </p:spPr>
        <p:txBody>
          <a:bodyPr wrap="square" lIns="0" tIns="0" rIns="0" bIns="0" rtlCol="0" anchor="t"/>
          <a:lstStyle>
            <a:lvl1pPr marL="0" indent="0" algn="l">
              <a:lnSpc>
                <a:spcPct val="115000"/>
              </a:lnSpc>
              <a:buNone/>
              <a:defRPr lang="en-US" sz="3600" dirty="0">
                <a:solidFill>
                  <a:srgbClr val="1F2D27"/>
                </a:solidFill>
                <a:latin typeface="Nunito" pitchFamily="34" charset="0"/>
                <a:ea typeface="Nunito" pitchFamily="34" charset="-122"/>
                <a:cs typeface="Nunito"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23380"/>
            <a:ext cx="10566400" cy="3921820"/>
          </a:xfrm>
          <a:prstGeom prst="rect">
            <a:avLst/>
          </a:prstGeom>
          <a:noFill/>
          <a:ln/>
        </p:spPr>
        <p:txBody>
          <a:bodyPr wrap="square" lIns="0" tIns="0" rIns="0" bIns="0" rtlCol="0" anchor="t"/>
          <a:lstStyle>
            <a:lvl1pPr marL="0" indent="0" algn="l">
              <a:lnSpc>
                <a:spcPct val="140000"/>
              </a:lnSpc>
              <a:buNone/>
              <a:defRPr lang="en-US" sz="1600" dirty="0">
                <a:solidFill>
                  <a:srgbClr val="1F2D27"/>
                </a:solidFill>
                <a:latin typeface="Nunito" pitchFamily="34" charset="0"/>
                <a:ea typeface="Nunito" pitchFamily="34" charset="-122"/>
                <a:cs typeface="Nunito"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9525000" cy="1005780"/>
          </a:xfrm>
          <a:prstGeom prst="rect">
            <a:avLst/>
          </a:prstGeom>
          <a:noFill/>
          <a:ln/>
        </p:spPr>
        <p:txBody>
          <a:bodyPr wrap="square" lIns="0" tIns="0" rIns="0" bIns="0" rtlCol="0" anchor="t"/>
          <a:lstStyle>
            <a:lvl1pPr marL="0" indent="0" algn="l">
              <a:lnSpc>
                <a:spcPct val="115000"/>
              </a:lnSpc>
              <a:buNone/>
              <a:defRPr lang="en-US" sz="3600" dirty="0">
                <a:solidFill>
                  <a:srgbClr val="1F2D27"/>
                </a:solidFill>
                <a:latin typeface="Nunito" pitchFamily="34" charset="0"/>
                <a:ea typeface="Nunito" pitchFamily="34" charset="-122"/>
                <a:cs typeface="Nunito"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23380"/>
            <a:ext cx="10566400" cy="3921820"/>
          </a:xfrm>
          <a:prstGeom prst="rect">
            <a:avLst/>
          </a:prstGeom>
          <a:noFill/>
          <a:ln/>
        </p:spPr>
        <p:txBody>
          <a:bodyPr wrap="square" lIns="0" tIns="0" rIns="0" bIns="0" rtlCol="0" anchor="t"/>
          <a:lstStyle>
            <a:lvl1pPr marL="0" indent="0" algn="l">
              <a:lnSpc>
                <a:spcPct val="140000"/>
              </a:lnSpc>
              <a:buNone/>
              <a:defRPr lang="en-US" sz="1600" dirty="0">
                <a:solidFill>
                  <a:srgbClr val="1F2D27"/>
                </a:solidFill>
                <a:latin typeface="Nunito" pitchFamily="34" charset="0"/>
                <a:ea typeface="Nunito" pitchFamily="34" charset="-122"/>
                <a:cs typeface="Nunit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6B5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BF8F1"/>
                </a:solidFill>
                <a:latin typeface="Nunito" pitchFamily="34" charset="0"/>
                <a:ea typeface="Nunito" pitchFamily="34" charset="-122"/>
                <a:cs typeface="Nunito" pitchFamily="34" charset="-120"/>
              </a:rPr>
              <a:t>Kindred</a:t>
            </a:r>
            <a:endParaRPr lang="en-US" sz="2200" dirty="0"/>
          </a:p>
        </p:txBody>
      </p:sp>
      <p:sp>
        <p:nvSpPr>
          <p:cNvPr id="3" name="Text 1"/>
          <p:cNvSpPr>
            <a:spLocks noGrp="1"/>
          </p:cNvSpPr>
          <p:nvPr>
            <p:ph type="title"/>
          </p:nvPr>
        </p:nvSpPr>
        <p:spPr>
          <a:xfrm>
            <a:off x="812800" y="1610320"/>
            <a:ext cx="9156700" cy="16256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FBF8F1"/>
                </a:solidFill>
                <a:latin typeface="Nunito" pitchFamily="34" charset="0"/>
                <a:ea typeface="Nunito" pitchFamily="34" charset="-122"/>
                <a:cs typeface="Nunito" pitchFamily="34" charset="-120"/>
              </a:rPr>
              <a:t>Who's taking Dad on Thursday?</a:t>
            </a:r>
            <a:endParaRPr lang="en-US" sz="6000" dirty="0"/>
          </a:p>
        </p:txBody>
      </p:sp>
      <p:sp>
        <p:nvSpPr>
          <p:cNvPr id="4" name="Shape 2"/>
          <p:cNvSpPr/>
          <p:nvPr/>
        </p:nvSpPr>
        <p:spPr>
          <a:xfrm>
            <a:off x="812800" y="4064000"/>
            <a:ext cx="6985000" cy="1270000"/>
          </a:xfrm>
          <a:prstGeom prst="roundRect">
            <a:avLst>
              <a:gd name="adj" fmla="val 7000"/>
            </a:avLst>
          </a:prstGeom>
          <a:solidFill>
            <a:srgbClr val="FBF8F1"/>
          </a:solidFill>
          <a:ln/>
        </p:spPr>
      </p:sp>
      <p:sp>
        <p:nvSpPr>
          <p:cNvPr id="5" name="Text 3"/>
          <p:cNvSpPr/>
          <p:nvPr/>
        </p:nvSpPr>
        <p:spPr>
          <a:xfrm>
            <a:off x="1117600" y="4373910"/>
            <a:ext cx="5441696"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F2D27"/>
                </a:solidFill>
                <a:latin typeface="Nunito" pitchFamily="34" charset="0"/>
                <a:ea typeface="Nunito" pitchFamily="34" charset="-122"/>
                <a:cs typeface="Nunito" pitchFamily="34" charset="-120"/>
              </a:rPr>
              <a:t>Take Dad to physio</a:t>
            </a:r>
            <a:endParaRPr lang="en-US" sz="2200" dirty="0"/>
          </a:p>
        </p:txBody>
      </p:sp>
      <p:sp>
        <p:nvSpPr>
          <p:cNvPr id="6" name="Text 4"/>
          <p:cNvSpPr/>
          <p:nvPr/>
        </p:nvSpPr>
        <p:spPr>
          <a:xfrm>
            <a:off x="1117600" y="4759970"/>
            <a:ext cx="5441696"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8A5A12"/>
                </a:solidFill>
                <a:latin typeface="Nunito" pitchFamily="34" charset="0"/>
                <a:ea typeface="Nunito" pitchFamily="34" charset="-122"/>
                <a:cs typeface="Nunito" pitchFamily="34" charset="-120"/>
              </a:rPr>
              <a:t>Thursday, 2:00 pm · Nobody has claimed this</a:t>
            </a:r>
            <a:endParaRPr lang="en-US" sz="1600" dirty="0"/>
          </a:p>
        </p:txBody>
      </p:sp>
      <p:sp>
        <p:nvSpPr>
          <p:cNvPr id="7" name="Text 5"/>
          <p:cNvSpPr/>
          <p:nvPr/>
        </p:nvSpPr>
        <p:spPr>
          <a:xfrm>
            <a:off x="6743700" y="4330700"/>
            <a:ext cx="736600" cy="736600"/>
          </a:xfrm>
          <a:prstGeom prst="roundRect">
            <a:avLst>
              <a:gd name="adj" fmla="val 50000"/>
            </a:avLst>
          </a:prstGeom>
          <a:noFill/>
          <a:ln w="25400">
            <a:solidFill>
              <a:srgbClr val="E9A23B"/>
            </a:solidFill>
            <a:prstDash val="dash"/>
          </a:ln>
        </p:spPr>
        <p:txBody>
          <a:bodyPr wrap="square" lIns="0" tIns="0" rIns="0" bIns="0" rtlCol="0" anchor="ctr">
            <a:normAutofit/>
          </a:bodyPr>
          <a:lstStyle/>
          <a:p>
            <a:pPr marL="0" indent="0" algn="ctr">
              <a:lnSpc>
                <a:spcPts val="3080"/>
              </a:lnSpc>
              <a:buNone/>
            </a:pPr>
            <a:r>
              <a:rPr lang="en-US" sz="2200" b="1" dirty="0">
                <a:solidFill>
                  <a:srgbClr val="1F2D27"/>
                </a:solidFill>
                <a:latin typeface="Nunito" pitchFamily="34" charset="0"/>
                <a:ea typeface="Nunito" pitchFamily="34" charset="-122"/>
                <a:cs typeface="Nunito" pitchFamily="34" charset="-120"/>
              </a:rPr>
              <a:t>?</a:t>
            </a:r>
            <a:endParaRPr lang="en-US" sz="2200" dirty="0"/>
          </a:p>
        </p:txBody>
      </p:sp>
      <p:sp>
        <p:nvSpPr>
          <p:cNvPr id="8" name="Text 6"/>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7F2EC"/>
                </a:solidFill>
                <a:latin typeface="Nunito" pitchFamily="34" charset="0"/>
                <a:ea typeface="Nunito" pitchFamily="34" charset="-122"/>
                <a:cs typeface="Nunito" pitchFamily="34" charset="-120"/>
              </a:rPr>
              <a:t>productBC buildathon Demo Day, 17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5153914"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Everyone reacted. Nobody went.</a:t>
            </a:r>
            <a:endParaRPr lang="en-US" sz="3600" dirty="0"/>
          </a:p>
        </p:txBody>
      </p:sp>
      <p:sp>
        <p:nvSpPr>
          <p:cNvPr id="3" name="Text 1"/>
          <p:cNvSpPr/>
          <p:nvPr/>
        </p:nvSpPr>
        <p:spPr>
          <a:xfrm>
            <a:off x="812800" y="2072580"/>
            <a:ext cx="5153914"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One sibling becomes the coordinator. Everyone else helps through a group chat, where a thumbs-up isn't a yes.</a:t>
            </a:r>
            <a:endParaRPr lang="en-US" sz="1600" dirty="0"/>
          </a:p>
        </p:txBody>
      </p:sp>
      <p:sp>
        <p:nvSpPr>
          <p:cNvPr id="4" name="Text 2"/>
          <p:cNvSpPr/>
          <p:nvPr/>
        </p:nvSpPr>
        <p:spPr>
          <a:xfrm>
            <a:off x="812800" y="5008959"/>
            <a:ext cx="5153914"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About 6.7 million Canadians give unpaid care to adults.</a:t>
            </a:r>
            <a:endParaRPr lang="en-US" sz="1600" dirty="0"/>
          </a:p>
        </p:txBody>
      </p:sp>
      <p:sp>
        <p:nvSpPr>
          <p:cNvPr id="5" name="Text 3"/>
          <p:cNvSpPr/>
          <p:nvPr/>
        </p:nvSpPr>
        <p:spPr>
          <a:xfrm>
            <a:off x="812800" y="5831880"/>
            <a:ext cx="515391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Statistics Canada, 2022</a:t>
            </a:r>
            <a:endParaRPr lang="en-US" sz="1200" dirty="0"/>
          </a:p>
        </p:txBody>
      </p:sp>
      <p:sp>
        <p:nvSpPr>
          <p:cNvPr id="6" name="Shape 4"/>
          <p:cNvSpPr/>
          <p:nvPr/>
        </p:nvSpPr>
        <p:spPr>
          <a:xfrm>
            <a:off x="6426200" y="812800"/>
            <a:ext cx="4953000" cy="5232400"/>
          </a:xfrm>
          <a:prstGeom prst="roundRect">
            <a:avLst>
              <a:gd name="adj" fmla="val 2821"/>
            </a:avLst>
          </a:prstGeom>
          <a:solidFill>
            <a:srgbClr val="E7F2EC"/>
          </a:solidFill>
          <a:ln/>
        </p:spPr>
      </p:sp>
      <p:sp>
        <p:nvSpPr>
          <p:cNvPr id="7" name="Shape 5"/>
          <p:cNvSpPr/>
          <p:nvPr/>
        </p:nvSpPr>
        <p:spPr>
          <a:xfrm>
            <a:off x="6731000" y="1117600"/>
            <a:ext cx="3810000" cy="1117501"/>
          </a:xfrm>
          <a:prstGeom prst="roundRect">
            <a:avLst>
              <a:gd name="adj" fmla="val 7955"/>
            </a:avLst>
          </a:prstGeom>
          <a:solidFill>
            <a:srgbClr val="FBF8F1"/>
          </a:solidFill>
          <a:ln/>
        </p:spPr>
      </p:sp>
      <p:sp>
        <p:nvSpPr>
          <p:cNvPr id="8" name="Text 6"/>
          <p:cNvSpPr/>
          <p:nvPr/>
        </p:nvSpPr>
        <p:spPr>
          <a:xfrm>
            <a:off x="6934200" y="1270000"/>
            <a:ext cx="35057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B57"/>
                </a:solidFill>
                <a:latin typeface="Nunito" pitchFamily="34" charset="0"/>
                <a:ea typeface="Nunito" pitchFamily="34" charset="-122"/>
                <a:cs typeface="Nunito" pitchFamily="34" charset="-120"/>
              </a:rPr>
              <a:t>Ada</a:t>
            </a:r>
            <a:endParaRPr lang="en-US" sz="1200" dirty="0"/>
          </a:p>
        </p:txBody>
      </p:sp>
      <p:sp>
        <p:nvSpPr>
          <p:cNvPr id="9" name="Text 7"/>
          <p:cNvSpPr/>
          <p:nvPr/>
        </p:nvSpPr>
        <p:spPr>
          <a:xfrm>
            <a:off x="6934200" y="1534120"/>
            <a:ext cx="3505708"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D27"/>
                </a:solidFill>
                <a:latin typeface="Nunito" pitchFamily="34" charset="0"/>
                <a:ea typeface="Nunito" pitchFamily="34" charset="-122"/>
                <a:cs typeface="Nunito" pitchFamily="34" charset="-120"/>
              </a:rPr>
              <a:t>Can someone take Dad to physio on Thursday?</a:t>
            </a:r>
            <a:endParaRPr lang="en-US" sz="1600" dirty="0"/>
          </a:p>
        </p:txBody>
      </p:sp>
      <p:sp>
        <p:nvSpPr>
          <p:cNvPr id="10" name="Text 8"/>
          <p:cNvSpPr/>
          <p:nvPr/>
        </p:nvSpPr>
        <p:spPr>
          <a:xfrm>
            <a:off x="6731000" y="2387501"/>
            <a:ext cx="447370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F2D27"/>
                </a:solidFill>
                <a:latin typeface="Nunito" pitchFamily="34" charset="0"/>
                <a:ea typeface="Nunito" pitchFamily="34" charset="-122"/>
                <a:cs typeface="Nunito" pitchFamily="34" charset="-120"/>
              </a:rPr>
              <a:t>👍 👍 ❤️</a:t>
            </a:r>
            <a:endParaRPr lang="en-US" sz="1600" dirty="0"/>
          </a:p>
        </p:txBody>
      </p:sp>
      <p:sp>
        <p:nvSpPr>
          <p:cNvPr id="11" name="Text 9"/>
          <p:cNvSpPr/>
          <p:nvPr/>
        </p:nvSpPr>
        <p:spPr>
          <a:xfrm>
            <a:off x="6665849" y="2824361"/>
            <a:ext cx="4473702"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B6B63"/>
                </a:solidFill>
                <a:latin typeface="Nunito" pitchFamily="34" charset="0"/>
                <a:ea typeface="Nunito" pitchFamily="34" charset="-122"/>
                <a:cs typeface="Nunito" pitchFamily="34" charset="-120"/>
              </a:rPr>
              <a:t>Friday</a:t>
            </a:r>
            <a:endParaRPr lang="en-US" sz="1200" dirty="0"/>
          </a:p>
        </p:txBody>
      </p:sp>
      <p:sp>
        <p:nvSpPr>
          <p:cNvPr id="12" name="Shape 10"/>
          <p:cNvSpPr/>
          <p:nvPr/>
        </p:nvSpPr>
        <p:spPr>
          <a:xfrm>
            <a:off x="6731000" y="3190081"/>
            <a:ext cx="3810000" cy="843211"/>
          </a:xfrm>
          <a:prstGeom prst="roundRect">
            <a:avLst>
              <a:gd name="adj" fmla="val 10543"/>
            </a:avLst>
          </a:prstGeom>
          <a:solidFill>
            <a:srgbClr val="FBF8F1"/>
          </a:solidFill>
          <a:ln/>
        </p:spPr>
      </p:sp>
      <p:sp>
        <p:nvSpPr>
          <p:cNvPr id="13" name="Text 11"/>
          <p:cNvSpPr/>
          <p:nvPr/>
        </p:nvSpPr>
        <p:spPr>
          <a:xfrm>
            <a:off x="6934200" y="3342481"/>
            <a:ext cx="35057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B57"/>
                </a:solidFill>
                <a:latin typeface="Nunito" pitchFamily="34" charset="0"/>
                <a:ea typeface="Nunito" pitchFamily="34" charset="-122"/>
                <a:cs typeface="Nunito" pitchFamily="34" charset="-120"/>
              </a:rPr>
              <a:t>Jonah</a:t>
            </a:r>
            <a:endParaRPr lang="en-US" sz="1200" dirty="0"/>
          </a:p>
        </p:txBody>
      </p:sp>
      <p:sp>
        <p:nvSpPr>
          <p:cNvPr id="14" name="Text 12"/>
          <p:cNvSpPr/>
          <p:nvPr/>
        </p:nvSpPr>
        <p:spPr>
          <a:xfrm>
            <a:off x="6934200" y="3606602"/>
            <a:ext cx="3505708" cy="29969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D27"/>
                </a:solidFill>
                <a:latin typeface="Nunito" pitchFamily="34" charset="0"/>
                <a:ea typeface="Nunito" pitchFamily="34" charset="-122"/>
                <a:cs typeface="Nunito" pitchFamily="34" charset="-120"/>
              </a:rPr>
              <a:t>Did anyone take Dad to physio?</a:t>
            </a:r>
            <a:endParaRPr lang="en-US" sz="1600" dirty="0"/>
          </a:p>
        </p:txBody>
      </p:sp>
      <p:sp>
        <p:nvSpPr>
          <p:cNvPr id="15" name="Shape 13"/>
          <p:cNvSpPr/>
          <p:nvPr/>
        </p:nvSpPr>
        <p:spPr>
          <a:xfrm>
            <a:off x="7264400" y="4185692"/>
            <a:ext cx="3810000" cy="843211"/>
          </a:xfrm>
          <a:prstGeom prst="roundRect">
            <a:avLst>
              <a:gd name="adj" fmla="val 10543"/>
            </a:avLst>
          </a:prstGeom>
          <a:solidFill>
            <a:srgbClr val="FBF8F1"/>
          </a:solidFill>
          <a:ln/>
        </p:spPr>
      </p:sp>
      <p:sp>
        <p:nvSpPr>
          <p:cNvPr id="16" name="Text 14"/>
          <p:cNvSpPr/>
          <p:nvPr/>
        </p:nvSpPr>
        <p:spPr>
          <a:xfrm>
            <a:off x="7467600" y="4338092"/>
            <a:ext cx="35057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B57"/>
                </a:solidFill>
                <a:latin typeface="Nunito" pitchFamily="34" charset="0"/>
                <a:ea typeface="Nunito" pitchFamily="34" charset="-122"/>
                <a:cs typeface="Nunito" pitchFamily="34" charset="-120"/>
              </a:rPr>
              <a:t>Maya</a:t>
            </a:r>
            <a:endParaRPr lang="en-US" sz="1200" dirty="0"/>
          </a:p>
        </p:txBody>
      </p:sp>
      <p:sp>
        <p:nvSpPr>
          <p:cNvPr id="17" name="Text 15"/>
          <p:cNvSpPr/>
          <p:nvPr/>
        </p:nvSpPr>
        <p:spPr>
          <a:xfrm>
            <a:off x="7467600" y="4602212"/>
            <a:ext cx="3505708" cy="29969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D27"/>
                </a:solidFill>
                <a:latin typeface="Nunito" pitchFamily="34" charset="0"/>
                <a:ea typeface="Nunito" pitchFamily="34" charset="-122"/>
                <a:cs typeface="Nunito" pitchFamily="34" charset="-120"/>
              </a:rPr>
              <a:t>I thought you were going.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813816" y="813816"/>
            <a:ext cx="9811512" cy="1097280"/>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2F6B57"/>
                </a:solidFill>
                <a:latin typeface="Nunito" pitchFamily="34" charset="0"/>
                <a:ea typeface="Nunito" pitchFamily="34" charset="-122"/>
                <a:cs typeface="Nunito" pitchFamily="34" charset="-120"/>
              </a:rPr>
              <a:t>37%</a:t>
            </a:r>
            <a:r>
              <a:rPr lang="en-US" sz="3600" b="1" dirty="0">
                <a:solidFill>
                  <a:srgbClr val="1F2D27"/>
                </a:solidFill>
                <a:latin typeface="Nunito" pitchFamily="34" charset="0"/>
                <a:ea typeface="Nunito" pitchFamily="34" charset="-122"/>
                <a:cs typeface="Nunito" pitchFamily="34" charset="-120"/>
              </a:rPr>
              <a:t> of family caregivers spend 11+ hours a week just coordinating care.</a:t>
            </a:r>
            <a:endParaRPr lang="en-US" sz="3600" dirty="0"/>
          </a:p>
        </p:txBody>
      </p:sp>
      <p:sp>
        <p:nvSpPr>
          <p:cNvPr id="3" name="Subtitle"/>
          <p:cNvSpPr txBox="1"/>
          <p:nvPr/>
        </p:nvSpPr>
        <p:spPr>
          <a:xfrm>
            <a:off x="813816" y="2011680"/>
            <a:ext cx="10058400" cy="31089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Before any hands-on care. From a 2026 survey of 272 US family caregivers.</a:t>
            </a:r>
            <a:endParaRPr lang="en-US" sz="1600" dirty="0"/>
          </a:p>
        </p:txBody>
      </p:sp>
      <p:sp>
        <p:nvSpPr>
          <p:cNvPr id="4" name="Rule 0"/>
          <p:cNvSpPr/>
          <p:nvPr/>
        </p:nvSpPr>
        <p:spPr>
          <a:xfrm>
            <a:off x="813816" y="2606040"/>
            <a:ext cx="10564063" cy="0"/>
          </a:xfrm>
          <a:prstGeom prst="line">
            <a:avLst/>
          </a:prstGeom>
          <a:noFill/>
          <a:ln w="12700">
            <a:solidFill>
              <a:srgbClr val="8CC3AC"/>
            </a:solidFill>
            <a:prstDash val="solid"/>
          </a:ln>
        </p:spPr>
      </p:sp>
      <p:sp>
        <p:nvSpPr>
          <p:cNvPr id="5" name="Stat 1"/>
          <p:cNvSpPr txBox="1"/>
          <p:nvPr/>
        </p:nvSpPr>
        <p:spPr>
          <a:xfrm>
            <a:off x="813816" y="2743200"/>
            <a:ext cx="2103120" cy="667512"/>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2F6B57"/>
                </a:solidFill>
                <a:latin typeface="Nunito" pitchFamily="34" charset="0"/>
                <a:ea typeface="Nunito" pitchFamily="34" charset="-122"/>
                <a:cs typeface="Nunito" pitchFamily="34" charset="-120"/>
              </a:rPr>
              <a:t>1 in 3</a:t>
            </a:r>
            <a:endParaRPr lang="en-US" sz="3600" dirty="0"/>
          </a:p>
        </p:txBody>
      </p:sp>
      <p:sp>
        <p:nvSpPr>
          <p:cNvPr id="6" name="Label 1"/>
          <p:cNvSpPr txBox="1"/>
          <p:nvPr/>
        </p:nvSpPr>
        <p:spPr>
          <a:xfrm>
            <a:off x="3054096" y="2926080"/>
            <a:ext cx="8323783" cy="31089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say their care feels fragmented</a:t>
            </a:r>
            <a:endParaRPr lang="en-US" sz="1600" dirty="0"/>
          </a:p>
        </p:txBody>
      </p:sp>
      <p:sp>
        <p:nvSpPr>
          <p:cNvPr id="7" name="Rule 1"/>
          <p:cNvSpPr/>
          <p:nvPr/>
        </p:nvSpPr>
        <p:spPr>
          <a:xfrm>
            <a:off x="813816" y="3520440"/>
            <a:ext cx="10564063" cy="0"/>
          </a:xfrm>
          <a:prstGeom prst="line">
            <a:avLst/>
          </a:prstGeom>
          <a:noFill/>
          <a:ln w="12700">
            <a:solidFill>
              <a:srgbClr val="8CC3AC"/>
            </a:solidFill>
            <a:prstDash val="solid"/>
          </a:ln>
        </p:spPr>
      </p:sp>
      <p:sp>
        <p:nvSpPr>
          <p:cNvPr id="8" name="Stat 2"/>
          <p:cNvSpPr txBox="1"/>
          <p:nvPr/>
        </p:nvSpPr>
        <p:spPr>
          <a:xfrm>
            <a:off x="813816" y="3657600"/>
            <a:ext cx="2103120" cy="667512"/>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2F6B57"/>
                </a:solidFill>
                <a:latin typeface="Nunito" pitchFamily="34" charset="0"/>
                <a:ea typeface="Nunito" pitchFamily="34" charset="-122"/>
                <a:cs typeface="Nunito" pitchFamily="34" charset="-120"/>
              </a:rPr>
              <a:t>26%</a:t>
            </a:r>
            <a:endParaRPr lang="en-US" sz="3600" dirty="0"/>
          </a:p>
        </p:txBody>
      </p:sp>
      <p:sp>
        <p:nvSpPr>
          <p:cNvPr id="9" name="Label 2"/>
          <p:cNvSpPr txBox="1"/>
          <p:nvPr/>
        </p:nvSpPr>
        <p:spPr>
          <a:xfrm>
            <a:off x="3054096" y="3840480"/>
            <a:ext cx="8323783" cy="31089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say coordinating care and family updates is where tech could help most</a:t>
            </a:r>
            <a:endParaRPr lang="en-US" sz="1600" dirty="0"/>
          </a:p>
        </p:txBody>
      </p:sp>
      <p:sp>
        <p:nvSpPr>
          <p:cNvPr id="10" name="Rule 2"/>
          <p:cNvSpPr/>
          <p:nvPr/>
        </p:nvSpPr>
        <p:spPr>
          <a:xfrm>
            <a:off x="813816" y="4434840"/>
            <a:ext cx="10564063" cy="0"/>
          </a:xfrm>
          <a:prstGeom prst="line">
            <a:avLst/>
          </a:prstGeom>
          <a:noFill/>
          <a:ln w="12700">
            <a:solidFill>
              <a:srgbClr val="8CC3AC"/>
            </a:solidFill>
            <a:prstDash val="solid"/>
          </a:ln>
        </p:spPr>
      </p:sp>
      <p:sp>
        <p:nvSpPr>
          <p:cNvPr id="11" name="Stat 3"/>
          <p:cNvSpPr txBox="1"/>
          <p:nvPr/>
        </p:nvSpPr>
        <p:spPr>
          <a:xfrm>
            <a:off x="813816" y="4572000"/>
            <a:ext cx="2103120" cy="667512"/>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2F6B57"/>
                </a:solidFill>
                <a:latin typeface="Nunito" pitchFamily="34" charset="0"/>
                <a:ea typeface="Nunito" pitchFamily="34" charset="-122"/>
                <a:cs typeface="Nunito" pitchFamily="34" charset="-120"/>
              </a:rPr>
              <a:t>90%</a:t>
            </a:r>
            <a:endParaRPr lang="en-US" sz="3600" dirty="0"/>
          </a:p>
        </p:txBody>
      </p:sp>
      <p:sp>
        <p:nvSpPr>
          <p:cNvPr id="12" name="Label 3"/>
          <p:cNvSpPr txBox="1"/>
          <p:nvPr/>
        </p:nvSpPr>
        <p:spPr>
          <a:xfrm>
            <a:off x="3054096" y="4754880"/>
            <a:ext cx="8323783" cy="31089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already use at least one digital tool for caregiving</a:t>
            </a:r>
            <a:endParaRPr lang="en-US" sz="1600" dirty="0"/>
          </a:p>
        </p:txBody>
      </p:sp>
      <p:sp>
        <p:nvSpPr>
          <p:cNvPr id="13" name="Rule 3"/>
          <p:cNvSpPr/>
          <p:nvPr/>
        </p:nvSpPr>
        <p:spPr>
          <a:xfrm>
            <a:off x="813816" y="5349240"/>
            <a:ext cx="10564063" cy="0"/>
          </a:xfrm>
          <a:prstGeom prst="line">
            <a:avLst/>
          </a:prstGeom>
          <a:noFill/>
          <a:ln w="12700">
            <a:solidFill>
              <a:srgbClr val="8CC3AC"/>
            </a:solidFill>
            <a:prstDash val="solid"/>
          </a:ln>
        </p:spPr>
      </p:sp>
      <p:sp>
        <p:nvSpPr>
          <p:cNvPr id="14" name="Sources"/>
          <p:cNvSpPr txBox="1"/>
          <p:nvPr/>
        </p:nvSpPr>
        <p:spPr>
          <a:xfrm>
            <a:off x="813816" y="5577840"/>
            <a:ext cx="10607040" cy="237744"/>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Caregiver Action Network, Caregiver Tech Insights Survey: Findings Report 2026 (272 US family caregivers, ±5.94%).</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What caregivers need, and what we built</a:t>
            </a:r>
            <a:endParaRPr lang="en-US" sz="3600" dirty="0"/>
          </a:p>
        </p:txBody>
      </p:sp>
      <p:sp>
        <p:nvSpPr>
          <p:cNvPr id="3" name="Shape 1"/>
          <p:cNvSpPr/>
          <p:nvPr/>
        </p:nvSpPr>
        <p:spPr>
          <a:xfrm>
            <a:off x="812800" y="1677640"/>
            <a:ext cx="10566400" cy="0"/>
          </a:xfrm>
          <a:prstGeom prst="line">
            <a:avLst/>
          </a:prstGeom>
          <a:noFill/>
          <a:ln w="12700">
            <a:solidFill>
              <a:srgbClr val="141413">
                <a:alpha val="22000"/>
              </a:srgbClr>
            </a:solidFill>
            <a:prstDash val="solid"/>
          </a:ln>
        </p:spPr>
      </p:sp>
      <p:sp>
        <p:nvSpPr>
          <p:cNvPr id="4" name="Shape 2"/>
          <p:cNvSpPr/>
          <p:nvPr/>
        </p:nvSpPr>
        <p:spPr>
          <a:xfrm>
            <a:off x="819150" y="1671290"/>
            <a:ext cx="0" cy="2074863"/>
          </a:xfrm>
          <a:prstGeom prst="line">
            <a:avLst/>
          </a:prstGeom>
          <a:noFill/>
          <a:ln w="12700">
            <a:solidFill>
              <a:srgbClr val="141413">
                <a:alpha val="22000"/>
              </a:srgbClr>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77900" y="1836390"/>
          <a:ext cx="10248900" cy="1757364"/>
        </p:xfrm>
        <a:graphic>
          <a:graphicData uri="http://schemas.openxmlformats.org/drawingml/2006/table">
            <a:tbl>
              <a:tblPr/>
              <a:tblGrid>
                <a:gridCol w="5124450">
                  <a:extLst>
                    <a:ext uri="{9D8B030D-6E8A-4147-A177-3AD203B41FA5}">
                      <a16:colId xmlns:a16="http://schemas.microsoft.com/office/drawing/2014/main" val="20000"/>
                    </a:ext>
                  </a:extLst>
                </a:gridCol>
                <a:gridCol w="5124450">
                  <a:extLst>
                    <a:ext uri="{9D8B030D-6E8A-4147-A177-3AD203B41FA5}">
                      <a16:colId xmlns:a16="http://schemas.microsoft.com/office/drawing/2014/main" val="20001"/>
                    </a:ext>
                  </a:extLst>
                </a:gridCol>
              </a:tblGrid>
              <a:tr h="439341">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Caregivers said (2026 US survey)</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We built</a:t>
                      </a:r>
                      <a:endParaRPr lang="en-US" sz="1600" dirty="0">
                        <a:latin typeface="Nunito" charset="0"/>
                        <a:ea typeface="Nunito" charset="0"/>
                        <a:cs typeface="Nunito" charset="0"/>
                      </a:endParaRPr>
                    </a:p>
                  </a:txBody>
                  <a:tcPr marL="71120" marR="71120" marT="71120" marB="71120">
                    <a:lnL w="12700" cap="flat" cmpd="sng" algn="ctr">
                      <a:solidFill>
                        <a:srgbClr val="B9C1BC"/>
                      </a:solidFill>
                      <a:prstDash val="solid"/>
                      <a:round/>
                      <a:headEnd type="none" w="med" len="med"/>
                      <a:tailEnd type="none" w="med" len="med"/>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extLst>
                  <a:ext uri="{0D108BD9-81ED-4DB2-BD59-A6C34878D82A}">
                    <a16:rowId xmlns:a16="http://schemas.microsoft.com/office/drawing/2014/main" val="10000"/>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Appointments and medications take the most time</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Reminders before every appointment and due task</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1"/>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There’s little or no backup when they can’t make it</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Ask for cover in one tap, shared to the family chat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2"/>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Information is scattered across too many systems</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 weekly summary of who did what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p:nvPr/>
        </p:nvSpPr>
        <p:spPr>
          <a:xfrm>
            <a:off x="812800" y="4480560"/>
            <a:ext cx="10883392" cy="914400"/>
          </a:xfrm>
          <a:prstGeom prst="rect">
            <a:avLst/>
          </a:prstGeom>
          <a:noFill/>
          <a:ln/>
        </p:spPr>
        <p:txBody>
          <a:bodyPr wrap="square" lIns="0" tIns="0" rIns="0" bIns="0" rtlCol="0" anchor="t">
            <a:normAutofit/>
          </a:bodyPr>
          <a:lstStyle/>
          <a:p>
            <a:pPr marL="0" indent="0" algn="l">
              <a:lnSpc>
                <a:spcPts val="2240"/>
              </a:lnSpc>
              <a:spcBef>
                <a:spcPts val="0"/>
              </a:spcBef>
              <a:buNone/>
            </a:pPr>
            <a:r>
              <a:rPr lang="en-US" sz="1600" i="1" dirty="0">
                <a:solidFill>
                  <a:srgbClr val="3D4D46"/>
                </a:solidFill>
                <a:latin typeface="Nunito" pitchFamily="34" charset="0"/>
                <a:ea typeface="Nunito" pitchFamily="34" charset="-122"/>
                <a:cs typeface="Nunito" pitchFamily="34" charset="-120"/>
              </a:rPr>
              <a:t>“The most stressful part of caregiving is trying to coordinate everything at once, appointments, medications, and daily care, while still managing my own responsibilities.”</a:t>
            </a:r>
            <a:endParaRPr lang="en-US" sz="1600" dirty="0"/>
          </a:p>
          <a:p>
            <a:pPr marL="0" indent="0" algn="l">
              <a:lnSpc>
                <a:spcPts val="1680"/>
              </a:lnSpc>
              <a:spcBef>
                <a:spcPts val="0"/>
              </a:spcBef>
              <a:buNone/>
            </a:pPr>
            <a:r>
              <a:rPr lang="en-US" sz="1200" dirty="0">
                <a:solidFill>
                  <a:srgbClr val="5B6B63"/>
                </a:solidFill>
                <a:latin typeface="Nunito" pitchFamily="34" charset="0"/>
                <a:ea typeface="Nunito" pitchFamily="34" charset="-122"/>
                <a:cs typeface="Nunito" pitchFamily="34" charset="-120"/>
              </a:rPr>
              <a:t>A family caregiver in Caregiver Action Network’s 2026 survey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6B57"/>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464800" cy="1366441"/>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BF8F1"/>
                </a:solidFill>
                <a:latin typeface="Nunito" pitchFamily="34" charset="0"/>
                <a:ea typeface="Nunito" pitchFamily="34" charset="-122"/>
                <a:cs typeface="Nunito" pitchFamily="34" charset="-120"/>
              </a:rPr>
              <a:t>A chat records what was said. Kindred records who said yes.</a:t>
            </a:r>
            <a:endParaRPr lang="en-US" sz="4800" dirty="0"/>
          </a:p>
        </p:txBody>
      </p:sp>
      <p:sp>
        <p:nvSpPr>
          <p:cNvPr id="3" name="Shape 1"/>
          <p:cNvSpPr/>
          <p:nvPr/>
        </p:nvSpPr>
        <p:spPr>
          <a:xfrm>
            <a:off x="812800" y="4064000"/>
            <a:ext cx="6985000" cy="1270000"/>
          </a:xfrm>
          <a:prstGeom prst="roundRect">
            <a:avLst>
              <a:gd name="adj" fmla="val 7000"/>
            </a:avLst>
          </a:prstGeom>
          <a:solidFill>
            <a:srgbClr val="FBF8F1"/>
          </a:solidFill>
          <a:ln/>
        </p:spPr>
      </p:sp>
      <p:sp>
        <p:nvSpPr>
          <p:cNvPr id="4" name="Text 2"/>
          <p:cNvSpPr/>
          <p:nvPr/>
        </p:nvSpPr>
        <p:spPr>
          <a:xfrm>
            <a:off x="1117600" y="4373910"/>
            <a:ext cx="5441696"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F2D27"/>
                </a:solidFill>
                <a:latin typeface="Nunito" pitchFamily="34" charset="0"/>
                <a:ea typeface="Nunito" pitchFamily="34" charset="-122"/>
                <a:cs typeface="Nunito" pitchFamily="34" charset="-120"/>
              </a:rPr>
              <a:t>Take Dad to physio</a:t>
            </a:r>
            <a:endParaRPr lang="en-US" sz="2200" dirty="0"/>
          </a:p>
        </p:txBody>
      </p:sp>
      <p:sp>
        <p:nvSpPr>
          <p:cNvPr id="5" name="Text 3"/>
          <p:cNvSpPr/>
          <p:nvPr/>
        </p:nvSpPr>
        <p:spPr>
          <a:xfrm>
            <a:off x="1117600" y="4759970"/>
            <a:ext cx="5441696"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8A5A12"/>
                </a:solidFill>
                <a:latin typeface="Nunito" pitchFamily="34" charset="0"/>
                <a:ea typeface="Nunito" pitchFamily="34" charset="-122"/>
                <a:cs typeface="Nunito" pitchFamily="34" charset="-120"/>
              </a:rPr>
              <a:t>Thursday, 2:00 pm · Nobody has claimed this</a:t>
            </a:r>
            <a:endParaRPr lang="en-US" sz="1600" dirty="0"/>
          </a:p>
        </p:txBody>
      </p:sp>
      <p:sp>
        <p:nvSpPr>
          <p:cNvPr id="6" name="Text 4"/>
          <p:cNvSpPr/>
          <p:nvPr/>
        </p:nvSpPr>
        <p:spPr>
          <a:xfrm>
            <a:off x="6743700" y="4330700"/>
            <a:ext cx="736600" cy="736600"/>
          </a:xfrm>
          <a:prstGeom prst="roundRect">
            <a:avLst>
              <a:gd name="adj" fmla="val 50000"/>
            </a:avLst>
          </a:prstGeom>
          <a:noFill/>
          <a:ln w="25400">
            <a:solidFill>
              <a:srgbClr val="E9A23B"/>
            </a:solidFill>
            <a:prstDash val="dash"/>
          </a:ln>
        </p:spPr>
        <p:txBody>
          <a:bodyPr wrap="square" lIns="0" tIns="0" rIns="0" bIns="0" rtlCol="0" anchor="ctr">
            <a:normAutofit/>
          </a:bodyPr>
          <a:lstStyle/>
          <a:p>
            <a:pPr marL="0" indent="0" algn="ctr">
              <a:lnSpc>
                <a:spcPts val="3080"/>
              </a:lnSpc>
              <a:buNone/>
            </a:pPr>
            <a:r>
              <a:rPr lang="en-US" sz="2200" b="1" dirty="0">
                <a:solidFill>
                  <a:srgbClr val="1F2D27"/>
                </a:solidFill>
                <a:latin typeface="Nunito" pitchFamily="34" charset="0"/>
                <a:ea typeface="Nunito" pitchFamily="34" charset="-122"/>
                <a:cs typeface="Nunito" pitchFamily="34" charset="-120"/>
              </a:rPr>
              <a:t>?</a:t>
            </a:r>
            <a:endParaRPr lang="en-US" sz="2200" dirty="0"/>
          </a:p>
        </p:txBody>
      </p:sp>
      <p:sp>
        <p:nvSpPr>
          <p:cNvPr id="7" name="Text 5"/>
          <p:cNvSpPr/>
          <p:nvPr/>
        </p:nvSpPr>
        <p:spPr>
          <a:xfrm>
            <a:off x="1117600" y="4756150"/>
            <a:ext cx="5207000" cy="264120"/>
          </a:xfrm>
          <a:prstGeom prst="rect">
            <a:avLst/>
          </a:prstGeom>
          <a:solidFill>
            <a:srgbClr val="FBF8F1"/>
          </a:solidFill>
          <a:ln/>
        </p:spPr>
        <p:txBody>
          <a:bodyPr wrap="square" lIns="0" tIns="0" rIns="0" bIns="0" rtlCol="0" anchor="t">
            <a:normAutofit/>
          </a:bodyPr>
          <a:lstStyle/>
          <a:p>
            <a:pPr marL="0" indent="0" algn="l">
              <a:lnSpc>
                <a:spcPts val="2080"/>
              </a:lnSpc>
              <a:buNone/>
            </a:pPr>
            <a:r>
              <a:rPr lang="en-US" sz="1600" dirty="0">
                <a:solidFill>
                  <a:srgbClr val="2F6B57"/>
                </a:solidFill>
                <a:latin typeface="Nunito" pitchFamily="34" charset="0"/>
                <a:ea typeface="Nunito" pitchFamily="34" charset="-122"/>
                <a:cs typeface="Nunito" pitchFamily="34" charset="-120"/>
              </a:rPr>
              <a:t>Thursday, 2:00 pm · Maya claimed this on Tuesday</a:t>
            </a:r>
            <a:endParaRPr lang="en-US" sz="1600" dirty="0"/>
          </a:p>
        </p:txBody>
      </p:sp>
      <p:sp>
        <p:nvSpPr>
          <p:cNvPr id="8" name="Text 6"/>
          <p:cNvSpPr/>
          <p:nvPr/>
        </p:nvSpPr>
        <p:spPr>
          <a:xfrm>
            <a:off x="6743700" y="4330700"/>
            <a:ext cx="736600" cy="736600"/>
          </a:xfrm>
          <a:prstGeom prst="roundRect">
            <a:avLst>
              <a:gd name="adj" fmla="val 50000"/>
            </a:avLst>
          </a:prstGeom>
          <a:solidFill>
            <a:srgbClr val="2F6B57"/>
          </a:solidFill>
          <a:ln w="25400">
            <a:solidFill>
              <a:srgbClr val="2F6B57"/>
            </a:solidFill>
            <a:prstDash val="solid"/>
          </a:ln>
        </p:spPr>
        <p:txBody>
          <a:bodyPr wrap="square" lIns="0" tIns="0" rIns="0" bIns="0" rtlCol="0" anchor="ctr">
            <a:normAutofit/>
          </a:bodyPr>
          <a:lstStyle/>
          <a:p>
            <a:pPr marL="0" indent="0" algn="ctr">
              <a:lnSpc>
                <a:spcPts val="3080"/>
              </a:lnSpc>
              <a:buNone/>
            </a:pPr>
            <a:r>
              <a:rPr lang="en-US" sz="2200" b="1" dirty="0">
                <a:solidFill>
                  <a:srgbClr val="FBF8F1"/>
                </a:solidFill>
                <a:latin typeface="Nunito" pitchFamily="34" charset="0"/>
                <a:ea typeface="Nunito" pitchFamily="34" charset="-122"/>
                <a:cs typeface="Nunito" pitchFamily="34" charset="-120"/>
              </a:rPr>
              <a:t>M</a:t>
            </a:r>
            <a:endParaRPr lang="en-US" sz="2200" dirty="0"/>
          </a:p>
        </p:txBody>
      </p:sp>
      <p:sp>
        <p:nvSpPr>
          <p:cNvPr id="9" name="Text 7"/>
          <p:cNvSpPr/>
          <p:nvPr/>
        </p:nvSpPr>
        <p:spPr>
          <a:xfrm>
            <a:off x="8255000" y="4318000"/>
            <a:ext cx="3217926"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Every task has a named owner, so care stops slipping and no one carries it alone.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4656836"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Simple enough for every relative</a:t>
            </a:r>
            <a:endParaRPr lang="en-US" sz="3600" dirty="0"/>
          </a:p>
        </p:txBody>
      </p:sp>
      <p:sp>
        <p:nvSpPr>
          <p:cNvPr id="3" name="Text 1"/>
          <p:cNvSpPr/>
          <p:nvPr/>
        </p:nvSpPr>
        <p:spPr>
          <a:xfrm>
            <a:off x="812800" y="2123380"/>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Claim, don't assign</a:t>
            </a:r>
            <a:endParaRPr lang="en-US" sz="1600" dirty="0"/>
          </a:p>
        </p:txBody>
      </p:sp>
      <p:sp>
        <p:nvSpPr>
          <p:cNvPr id="4" name="Text 2"/>
          <p:cNvSpPr/>
          <p:nvPr/>
        </p:nvSpPr>
        <p:spPr>
          <a:xfrm>
            <a:off x="812800" y="2392611"/>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It isn't yours until you accept.</a:t>
            </a:r>
            <a:endParaRPr lang="en-US" sz="1200" dirty="0"/>
          </a:p>
        </p:txBody>
      </p:sp>
      <p:sp>
        <p:nvSpPr>
          <p:cNvPr id="5" name="Text 3"/>
          <p:cNvSpPr/>
          <p:nvPr/>
        </p:nvSpPr>
        <p:spPr>
          <a:xfrm>
            <a:off x="812800" y="2809131"/>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One tap: yes or no</a:t>
            </a:r>
            <a:endParaRPr lang="en-US" sz="1600" dirty="0"/>
          </a:p>
        </p:txBody>
      </p:sp>
      <p:sp>
        <p:nvSpPr>
          <p:cNvPr id="6" name="Text 4"/>
          <p:cNvSpPr/>
          <p:nvPr/>
        </p:nvSpPr>
        <p:spPr>
          <a:xfrm>
            <a:off x="812800" y="3078361"/>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Helpers join free and just tap Accept.</a:t>
            </a:r>
            <a:endParaRPr lang="en-US" sz="1200" dirty="0"/>
          </a:p>
        </p:txBody>
      </p:sp>
      <p:sp>
        <p:nvSpPr>
          <p:cNvPr id="7" name="Text 5"/>
          <p:cNvSpPr/>
          <p:nvPr/>
        </p:nvSpPr>
        <p:spPr>
          <a:xfrm>
            <a:off x="812800" y="3494881"/>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Work with the chat</a:t>
            </a:r>
            <a:endParaRPr lang="en-US" sz="1600" dirty="0"/>
          </a:p>
        </p:txBody>
      </p:sp>
      <p:sp>
        <p:nvSpPr>
          <p:cNvPr id="8" name="Text 6"/>
          <p:cNvSpPr/>
          <p:nvPr/>
        </p:nvSpPr>
        <p:spPr>
          <a:xfrm>
            <a:off x="812800" y="3764111"/>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Share requests to WhatsApp. Sync with Google Calendar.</a:t>
            </a:r>
            <a:endParaRPr lang="en-US" sz="1200" dirty="0"/>
          </a:p>
        </p:txBody>
      </p:sp>
      <p:sp>
        <p:nvSpPr>
          <p:cNvPr id="9" name="Text 7"/>
          <p:cNvSpPr/>
          <p:nvPr/>
        </p:nvSpPr>
        <p:spPr>
          <a:xfrm>
            <a:off x="812800" y="4180632"/>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Never clinical</a:t>
            </a:r>
            <a:endParaRPr lang="en-US" sz="1600" dirty="0"/>
          </a:p>
        </p:txBody>
      </p:sp>
      <p:sp>
        <p:nvSpPr>
          <p:cNvPr id="10" name="Text 8"/>
          <p:cNvSpPr/>
          <p:nvPr/>
        </p:nvSpPr>
        <p:spPr>
          <a:xfrm>
            <a:off x="812800" y="4449862"/>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Kindred coordinates care. It gives no medical advice.</a:t>
            </a:r>
            <a:endParaRPr lang="en-US" sz="1200" dirty="0"/>
          </a:p>
        </p:txBody>
      </p:sp>
      <p:sp>
        <p:nvSpPr>
          <p:cNvPr id="11" name="Shape 9"/>
          <p:cNvSpPr/>
          <p:nvPr/>
        </p:nvSpPr>
        <p:spPr>
          <a:xfrm>
            <a:off x="5740400" y="1950414"/>
            <a:ext cx="1778000" cy="2957172"/>
          </a:xfrm>
          <a:prstGeom prst="roundRect">
            <a:avLst>
              <a:gd name="adj" fmla="val 7857"/>
            </a:avLst>
          </a:prstGeom>
          <a:solidFill>
            <a:srgbClr val="E7F2EC"/>
          </a:solidFill>
          <a:ln/>
        </p:spPr>
      </p:sp>
      <p:pic>
        <p:nvPicPr>
          <p:cNvPr id="12" name="Image 0" descr="The Kindred app: a request to take Dad to physio, with Accept and Decline buttons"/>
          <p:cNvPicPr>
            <a:picLocks noChangeAspect="1"/>
          </p:cNvPicPr>
          <p:nvPr/>
        </p:nvPicPr>
        <p:blipFill>
          <a:blip r:embed="rId3"/>
          <a:stretch>
            <a:fillRect/>
          </a:stretch>
        </p:blipFill>
        <p:spPr>
          <a:xfrm>
            <a:off x="5813552" y="2023566"/>
            <a:ext cx="1631696" cy="2810868"/>
          </a:xfrm>
          <a:prstGeom prst="roundRect">
            <a:avLst>
              <a:gd name="adj" fmla="val 4000"/>
            </a:avLst>
          </a:prstGeom>
        </p:spPr>
      </p:pic>
      <p:sp>
        <p:nvSpPr>
          <p:cNvPr id="13" name="Shape 10"/>
          <p:cNvSpPr/>
          <p:nvPr/>
        </p:nvSpPr>
        <p:spPr>
          <a:xfrm>
            <a:off x="7670800" y="1950414"/>
            <a:ext cx="1778000" cy="2957172"/>
          </a:xfrm>
          <a:prstGeom prst="roundRect">
            <a:avLst>
              <a:gd name="adj" fmla="val 7857"/>
            </a:avLst>
          </a:prstGeom>
          <a:solidFill>
            <a:srgbClr val="E7F2EC"/>
          </a:solidFill>
          <a:ln/>
        </p:spPr>
      </p:sp>
      <p:pic>
        <p:nvPicPr>
          <p:cNvPr id="14" name="Image 1" descr="The Kindred app: Maya needs cover for a hearing aid fitting, with an I can do it button"/>
          <p:cNvPicPr>
            <a:picLocks noChangeAspect="1"/>
          </p:cNvPicPr>
          <p:nvPr/>
        </p:nvPicPr>
        <p:blipFill>
          <a:blip r:embed="rId4"/>
          <a:stretch>
            <a:fillRect/>
          </a:stretch>
        </p:blipFill>
        <p:spPr>
          <a:xfrm>
            <a:off x="7743952" y="2023566"/>
            <a:ext cx="1631696" cy="2810868"/>
          </a:xfrm>
          <a:prstGeom prst="roundRect">
            <a:avLst>
              <a:gd name="adj" fmla="val 4000"/>
            </a:avLst>
          </a:prstGeom>
        </p:spPr>
      </p:pic>
      <p:sp>
        <p:nvSpPr>
          <p:cNvPr id="15" name="Shape 11"/>
          <p:cNvSpPr/>
          <p:nvPr/>
        </p:nvSpPr>
        <p:spPr>
          <a:xfrm>
            <a:off x="9601200" y="1950414"/>
            <a:ext cx="1778000" cy="2957172"/>
          </a:xfrm>
          <a:prstGeom prst="roundRect">
            <a:avLst>
              <a:gd name="adj" fmla="val 7857"/>
            </a:avLst>
          </a:prstGeom>
          <a:solidFill>
            <a:srgbClr val="E7F2EC"/>
          </a:solidFill>
          <a:ln/>
        </p:spPr>
      </p:sp>
      <p:pic>
        <p:nvPicPr>
          <p:cNvPr id="16" name="Image 2" descr="The Kindred app: Jonah's Home screen, with this week's tasks, appointments and what's overdue"/>
          <p:cNvPicPr>
            <a:picLocks noChangeAspect="1"/>
          </p:cNvPicPr>
          <p:nvPr/>
        </p:nvPicPr>
        <p:blipFill>
          <a:blip r:embed="rId5"/>
          <a:stretch>
            <a:fillRect/>
          </a:stretch>
        </p:blipFill>
        <p:spPr>
          <a:xfrm>
            <a:off x="9674352" y="2023566"/>
            <a:ext cx="1631696" cy="2810868"/>
          </a:xfrm>
          <a:custGeom>
            <a:avLst/>
            <a:gdLst/>
            <a:ahLst/>
            <a:cxnLst/>
            <a:rect l="l" t="t" r="r" b="b"/>
            <a:pathLst>
              <a:path w="1778000" h="5106051">
                <a:moveTo>
                  <a:pt x="0" y="76526"/>
                </a:moveTo>
                <a:arcTo wR="139700" hR="139700" stAng="10800000" swAng="1992913"/>
                <a:lnTo>
                  <a:pt x="1755176" y="0"/>
                </a:lnTo>
                <a:arcTo wR="139700" hR="139700" stAng="19607087" swAng="1992913"/>
                <a:lnTo>
                  <a:pt x="1778000" y="5029526"/>
                </a:lnTo>
                <a:arcTo wR="139700" hR="139700" stAng="0" swAng="1992913"/>
                <a:lnTo>
                  <a:pt x="22824" y="5106051"/>
                </a:lnTo>
                <a:arcTo wR="139700" hR="139700" stAng="8807087" swAng="1992913"/>
                <a:close/>
              </a:path>
            </a:pathLst>
          </a:cu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7F2EC"/>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5467858"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The core loop, on two phones</a:t>
            </a:r>
            <a:endParaRPr lang="en-US" sz="3600" dirty="0"/>
          </a:p>
        </p:txBody>
      </p:sp>
      <p:sp>
        <p:nvSpPr>
          <p:cNvPr id="3" name="Text 1"/>
          <p:cNvSpPr/>
          <p:nvPr/>
        </p:nvSpPr>
        <p:spPr>
          <a:xfrm>
            <a:off x="846038" y="2123380"/>
            <a:ext cx="5427000" cy="1975941"/>
          </a:xfrm>
          <a:prstGeom prst="rect">
            <a:avLst/>
          </a:prstGeom>
          <a:noFill/>
          <a:ln/>
        </p:spPr>
        <p:txBody>
          <a:bodyPr wrap="square" lIns="0" tIns="0" rIns="0" bIns="0" rtlCol="0" anchor="t">
            <a:normAutofit/>
          </a:bodyPr>
          <a:lstStyle/>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Create a recurring task for Dad</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A sibling claims it</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Plans change: ask for cover</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Share the request to the family chat</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Someone else takes it</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Mark it done, with an update</a:t>
            </a:r>
            <a:endParaRPr lang="en-US" sz="1600" dirty="0"/>
          </a:p>
        </p:txBody>
      </p:sp>
      <p:sp>
        <p:nvSpPr>
          <p:cNvPr id="6" name="Text 3"/>
          <p:cNvSpPr/>
          <p:nvPr/>
        </p:nvSpPr>
        <p:spPr>
          <a:xfrm>
            <a:off x="709060" y="4460962"/>
            <a:ext cx="2145508" cy="2074069"/>
          </a:xfrm>
          <a:prstGeom prst="roundRect">
            <a:avLst>
              <a:gd name="adj" fmla="val 5051"/>
            </a:avLst>
          </a:prstGeom>
          <a:solidFill>
            <a:srgbClr val="FBF8F1"/>
          </a:solidFill>
          <a:ln w="25400">
            <a:solidFill>
              <a:srgbClr val="E9A23B"/>
            </a:solidFill>
            <a:prstDash val="dash"/>
          </a:ln>
        </p:spPr>
        <p:txBody>
          <a:bodyPr wrap="square" lIns="0" tIns="0" rIns="0" bIns="0" rtlCol="0" anchor="ctr">
            <a:normAutofit/>
          </a:bodyPr>
          <a:lstStyle/>
          <a:p>
            <a:pPr marL="0" indent="0" algn="ctr">
              <a:lnSpc>
                <a:spcPts val="2240"/>
              </a:lnSpc>
              <a:buNone/>
            </a:pPr>
            <a:r>
              <a:rPr lang="en-US" sz="1600" b="1" dirty="0">
                <a:solidFill>
                  <a:srgbClr val="8A5A12"/>
                </a:solidFill>
                <a:latin typeface="Nunito" pitchFamily="34" charset="0"/>
                <a:ea typeface="Nunito" pitchFamily="34" charset="-122"/>
                <a:cs typeface="Nunito" pitchFamily="34" charset="-120"/>
              </a:rPr>
              <a:t>[QR code]</a:t>
            </a:r>
            <a:endParaRPr lang="en-US" sz="1600" dirty="0"/>
          </a:p>
        </p:txBody>
      </p:sp>
      <p:sp>
        <p:nvSpPr>
          <p:cNvPr id="7" name="Text 4"/>
          <p:cNvSpPr/>
          <p:nvPr/>
        </p:nvSpPr>
        <p:spPr>
          <a:xfrm>
            <a:off x="3244298" y="5086834"/>
            <a:ext cx="2616200" cy="289520"/>
          </a:xfrm>
          <a:prstGeom prst="rect">
            <a:avLst/>
          </a:prstGeom>
          <a:noFill/>
          <a:ln/>
        </p:spPr>
        <p:txBody>
          <a:bodyPr wrap="square" lIns="0" tIns="0" rIns="0" bIns="0" rtlCol="0" anchor="t">
            <a:normAutofit/>
          </a:bodyPr>
          <a:lstStyle/>
          <a:p>
            <a:pPr marL="0" indent="0" algn="l">
              <a:lnSpc>
                <a:spcPts val="2080"/>
              </a:lnSpc>
              <a:buNone/>
            </a:pPr>
            <a:r>
              <a:rPr lang="en-US" sz="1600" b="1" dirty="0">
                <a:solidFill>
                  <a:srgbClr val="1F2D27"/>
                </a:solidFill>
                <a:latin typeface="Nunito" pitchFamily="34" charset="0"/>
                <a:ea typeface="Nunito" pitchFamily="34" charset="-122"/>
                <a:cs typeface="Nunito" pitchFamily="34" charset="-120"/>
              </a:rPr>
              <a:t>Try it on your phone</a:t>
            </a:r>
            <a:endParaRPr lang="en-US" sz="1600" dirty="0"/>
          </a:p>
        </p:txBody>
      </p:sp>
      <p:sp>
        <p:nvSpPr>
          <p:cNvPr id="8" name="Text 5"/>
          <p:cNvSpPr/>
          <p:nvPr/>
        </p:nvSpPr>
        <p:spPr>
          <a:xfrm>
            <a:off x="3244298" y="5503353"/>
            <a:ext cx="2616200"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5A12"/>
                </a:solidFill>
                <a:latin typeface="Nunito"/>
              </a:rPr>
              <a:t>kindred-care-</a:t>
            </a:r>
            <a:r>
              <a:rPr lang="en-US" sz="1200" dirty="0" err="1">
                <a:solidFill>
                  <a:srgbClr val="8A5A12"/>
                </a:solidFill>
                <a:latin typeface="Nunito"/>
              </a:rPr>
              <a:t>circle.vercel.app</a:t>
            </a:r>
            <a:endParaRPr lang="en-US" dirty="0" err="1"/>
          </a:p>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Tap Try the demo. No account needed.</a:t>
            </a:r>
            <a:endParaRPr lang="en-US" sz="1200" dirty="0"/>
          </a:p>
        </p:txBody>
      </p:sp>
      <p:pic>
        <p:nvPicPr>
          <p:cNvPr id="10" name="kindred-demo-cropped">
            <a:hlinkClick r:id="" action="ppaction://media"/>
            <a:extLst>
              <a:ext uri="{FF2B5EF4-FFF2-40B4-BE49-F238E27FC236}">
                <a16:creationId xmlns:a16="http://schemas.microsoft.com/office/drawing/2014/main" id="{0F999BA7-0672-9D5A-0CF4-40C8E98CEFD2}"/>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976144" y="685800"/>
            <a:ext cx="6215063" cy="5486400"/>
          </a:xfrm>
          <a:prstGeom prst="rect">
            <a:avLst/>
          </a:prstGeom>
        </p:spPr>
      </p:pic>
      <p:pic>
        <p:nvPicPr>
          <p:cNvPr id="11" name="Picture 10">
            <a:extLst>
              <a:ext uri="{FF2B5EF4-FFF2-40B4-BE49-F238E27FC236}">
                <a16:creationId xmlns:a16="http://schemas.microsoft.com/office/drawing/2014/main" id="{DA01B73C-F684-AD24-8C7C-D3F7AAD10C37}"/>
              </a:ext>
            </a:extLst>
          </p:cNvPr>
          <p:cNvPicPr>
            <a:picLocks noChangeAspect="1"/>
          </p:cNvPicPr>
          <p:nvPr/>
        </p:nvPicPr>
        <p:blipFill>
          <a:blip r:embed="rId6"/>
          <a:stretch>
            <a:fillRect/>
          </a:stretch>
        </p:blipFill>
        <p:spPr>
          <a:xfrm>
            <a:off x="808971" y="4572000"/>
            <a:ext cx="1906308" cy="186928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10"/>
                </p:tgtEl>
              </p:cMediaNode>
            </p:video>
            <p:seq concurrent="1" nextAc="seek">
              <p:cTn id="8" restart="whenNotActive" fill="hold" evtFilter="cancelBubble" nodeType="interactiveSeq">
                <p:stCondLst>
                  <p:cond evt="onClick" delay="0">
                    <p:tgtEl>
                      <p:spTgt spid="10"/>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915670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The coordinator pays. Everyone they invite is free.</a:t>
            </a:r>
            <a:endParaRPr lang="en-US" sz="3600" dirty="0"/>
          </a:p>
        </p:txBody>
      </p:sp>
      <p:sp>
        <p:nvSpPr>
          <p:cNvPr id="3" name="Text 1"/>
          <p:cNvSpPr/>
          <p:nvPr/>
        </p:nvSpPr>
        <p:spPr>
          <a:xfrm>
            <a:off x="812800" y="3187799"/>
            <a:ext cx="10883392"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2F6B57"/>
                </a:solidFill>
                <a:latin typeface="Nunito" pitchFamily="34" charset="0"/>
                <a:ea typeface="Nunito" pitchFamily="34" charset="-122"/>
                <a:cs typeface="Nunito" pitchFamily="34" charset="-120"/>
              </a:rPr>
              <a:t>$5 a month</a:t>
            </a:r>
            <a:endParaRPr lang="en-US" sz="6000" dirty="0"/>
          </a:p>
        </p:txBody>
      </p:sp>
      <p:sp>
        <p:nvSpPr>
          <p:cNvPr id="4" name="Text 2"/>
          <p:cNvSpPr/>
          <p:nvPr/>
        </p:nvSpPr>
        <p:spPr>
          <a:xfrm>
            <a:off x="812800" y="4051399"/>
            <a:ext cx="784860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for the first 100 founding families, locked in, with a 30-day money-back guarantee and personal setup.</a:t>
            </a:r>
            <a:endParaRPr lang="en-US" sz="1600" dirty="0"/>
          </a:p>
        </p:txBody>
      </p:sp>
      <p:pic>
        <p:nvPicPr>
          <p:cNvPr id="5" name="Image 0" descr="line"/>
          <p:cNvPicPr>
            <a:picLocks noChangeAspect="1"/>
          </p:cNvPicPr>
          <p:nvPr/>
        </p:nvPicPr>
        <p:blipFill>
          <a:blip r:embed="rId3"/>
          <a:srcRect/>
          <a:stretch/>
        </p:blipFill>
        <p:spPr>
          <a:xfrm>
            <a:off x="812800" y="4925120"/>
            <a:ext cx="10566400" cy="12700"/>
          </a:xfrm>
          <a:prstGeom prst="rect">
            <a:avLst/>
          </a:prstGeom>
        </p:spPr>
      </p:pic>
      <p:sp>
        <p:nvSpPr>
          <p:cNvPr id="6" name="Text 3"/>
          <p:cNvSpPr/>
          <p:nvPr/>
        </p:nvSpPr>
        <p:spPr>
          <a:xfrm>
            <a:off x="812800" y="524262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After that, $7 a month or $70 a year per Care Circle. Helpers never pay.</a:t>
            </a:r>
            <a:endParaRPr lang="en-US" sz="1600" dirty="0"/>
          </a:p>
        </p:txBody>
      </p:sp>
      <p:sp>
        <p:nvSpPr>
          <p:cNvPr id="7" name="Text 4"/>
          <p:cNvSpPr/>
          <p:nvPr/>
        </p:nvSpPr>
        <p:spPr>
          <a:xfrm>
            <a:off x="812800" y="58318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Paid from day one, so we learn early whether families value it.</a:t>
            </a:r>
            <a:endParaRPr lang="en-US" sz="1200" dirty="0"/>
          </a:p>
        </p:txBody>
      </p:sp>
      <p:sp>
        <p:nvSpPr>
          <p:cNvPr id="8" name="Evidence"/>
          <p:cNvSpPr txBox="1"/>
          <p:nvPr/>
        </p:nvSpPr>
        <p:spPr>
          <a:xfrm>
            <a:off x="813816" y="2148840"/>
            <a:ext cx="10570464" cy="68580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6B57"/>
                </a:solidFill>
                <a:latin typeface="Nunito" pitchFamily="34" charset="0"/>
                <a:ea typeface="Nunito" pitchFamily="34" charset="-122"/>
                <a:cs typeface="Nunito" pitchFamily="34" charset="-120"/>
              </a:rPr>
              <a:t>28%</a:t>
            </a:r>
            <a:r>
              <a:rPr lang="en-US" sz="1600" dirty="0">
                <a:solidFill>
                  <a:srgbClr val="3D4D46"/>
                </a:solidFill>
                <a:latin typeface="Nunito" pitchFamily="34" charset="0"/>
                <a:ea typeface="Nunito" pitchFamily="34" charset="-122"/>
                <a:cs typeface="Nunito" pitchFamily="34" charset="-120"/>
              </a:rPr>
              <a:t> of caregivers would pay $11–25 a month for a tool that reduces their stress. We start at $5.</a:t>
            </a:r>
            <a:endParaRPr lang="en-US" sz="1600" dirty="0"/>
          </a:p>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Caregiver Action Network, Caregiver Tech Insights Survey 2026 (272 US family caregivers)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981075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420,000 Canadian families share a parent's care.</a:t>
            </a:r>
            <a:endParaRPr lang="en-US" sz="3600" dirty="0"/>
          </a:p>
        </p:txBody>
      </p:sp>
      <p:sp>
        <p:nvSpPr>
          <p:cNvPr id="3" name="Text 1"/>
          <p:cNvSpPr/>
          <p:nvPr/>
        </p:nvSpPr>
        <p:spPr>
          <a:xfrm>
            <a:off x="812800" y="3022898"/>
            <a:ext cx="26162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~2.2M circles</a:t>
            </a:r>
            <a:endParaRPr lang="en-US" sz="1600" dirty="0"/>
          </a:p>
        </p:txBody>
      </p:sp>
      <p:sp>
        <p:nvSpPr>
          <p:cNvPr id="4" name="Text 2"/>
          <p:cNvSpPr/>
          <p:nvPr/>
        </p:nvSpPr>
        <p:spPr>
          <a:xfrm>
            <a:off x="812800" y="3332758"/>
            <a:ext cx="26162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All unpaid caregivers of adults</a:t>
            </a:r>
            <a:endParaRPr lang="en-US" sz="1200" dirty="0"/>
          </a:p>
        </p:txBody>
      </p:sp>
      <p:sp>
        <p:nvSpPr>
          <p:cNvPr id="5" name="Shape 3"/>
          <p:cNvSpPr/>
          <p:nvPr/>
        </p:nvSpPr>
        <p:spPr>
          <a:xfrm>
            <a:off x="3556000" y="3106688"/>
            <a:ext cx="6096000" cy="355600"/>
          </a:xfrm>
          <a:prstGeom prst="roundRect">
            <a:avLst>
              <a:gd name="adj" fmla="val 14286"/>
            </a:avLst>
          </a:prstGeom>
          <a:solidFill>
            <a:srgbClr val="8CC3AC"/>
          </a:solidFill>
          <a:ln/>
        </p:spPr>
      </p:sp>
      <p:sp>
        <p:nvSpPr>
          <p:cNvPr id="6" name="Text 4"/>
          <p:cNvSpPr/>
          <p:nvPr/>
        </p:nvSpPr>
        <p:spPr>
          <a:xfrm>
            <a:off x="9804400" y="3142258"/>
            <a:ext cx="1574800" cy="309860"/>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1F2D27"/>
                </a:solidFill>
                <a:latin typeface="Nunito" pitchFamily="34" charset="0"/>
                <a:ea typeface="Nunito" pitchFamily="34" charset="-122"/>
                <a:cs typeface="Nunito" pitchFamily="34" charset="-120"/>
              </a:rPr>
              <a:t>~$185M</a:t>
            </a:r>
            <a:endParaRPr lang="en-US" sz="1600" dirty="0"/>
          </a:p>
        </p:txBody>
      </p:sp>
      <p:sp>
        <p:nvSpPr>
          <p:cNvPr id="7" name="Text 5"/>
          <p:cNvSpPr/>
          <p:nvPr/>
        </p:nvSpPr>
        <p:spPr>
          <a:xfrm>
            <a:off x="812800" y="3800078"/>
            <a:ext cx="26162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~420K circles</a:t>
            </a:r>
            <a:endParaRPr lang="en-US" sz="1600" dirty="0"/>
          </a:p>
        </p:txBody>
      </p:sp>
      <p:sp>
        <p:nvSpPr>
          <p:cNvPr id="8" name="Text 6"/>
          <p:cNvSpPr/>
          <p:nvPr/>
        </p:nvSpPr>
        <p:spPr>
          <a:xfrm>
            <a:off x="812800" y="4109938"/>
            <a:ext cx="26162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Working adults sharing a parent's care</a:t>
            </a:r>
            <a:endParaRPr lang="en-US" sz="1200" dirty="0"/>
          </a:p>
        </p:txBody>
      </p:sp>
      <p:sp>
        <p:nvSpPr>
          <p:cNvPr id="9" name="Shape 7"/>
          <p:cNvSpPr/>
          <p:nvPr/>
        </p:nvSpPr>
        <p:spPr>
          <a:xfrm>
            <a:off x="3556000" y="3990529"/>
            <a:ext cx="1162050" cy="355600"/>
          </a:xfrm>
          <a:prstGeom prst="roundRect">
            <a:avLst>
              <a:gd name="adj" fmla="val 14286"/>
            </a:avLst>
          </a:prstGeom>
          <a:solidFill>
            <a:srgbClr val="2F6B57"/>
          </a:solidFill>
          <a:ln/>
        </p:spPr>
      </p:sp>
      <p:sp>
        <p:nvSpPr>
          <p:cNvPr id="10" name="Text 8"/>
          <p:cNvSpPr/>
          <p:nvPr/>
        </p:nvSpPr>
        <p:spPr>
          <a:xfrm>
            <a:off x="9804400" y="4026098"/>
            <a:ext cx="1574800" cy="309860"/>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1F2D27"/>
                </a:solidFill>
                <a:latin typeface="Nunito" pitchFamily="34" charset="0"/>
                <a:ea typeface="Nunito" pitchFamily="34" charset="-122"/>
                <a:cs typeface="Nunito" pitchFamily="34" charset="-120"/>
              </a:rPr>
              <a:t>~$35M</a:t>
            </a:r>
            <a:endParaRPr lang="en-US" sz="1600" dirty="0"/>
          </a:p>
        </p:txBody>
      </p:sp>
      <p:sp>
        <p:nvSpPr>
          <p:cNvPr id="11" name="Text 9"/>
          <p:cNvSpPr/>
          <p:nvPr/>
        </p:nvSpPr>
        <p:spPr>
          <a:xfrm>
            <a:off x="812800" y="4790579"/>
            <a:ext cx="26162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~8,400 circles</a:t>
            </a:r>
            <a:endParaRPr lang="en-US" sz="1600" dirty="0"/>
          </a:p>
        </p:txBody>
      </p:sp>
      <p:sp>
        <p:nvSpPr>
          <p:cNvPr id="12" name="Text 10"/>
          <p:cNvSpPr/>
          <p:nvPr/>
        </p:nvSpPr>
        <p:spPr>
          <a:xfrm>
            <a:off x="812800" y="5100439"/>
            <a:ext cx="26162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Our 3-year target, 2% of those</a:t>
            </a:r>
            <a:endParaRPr lang="en-US" sz="1200" dirty="0"/>
          </a:p>
        </p:txBody>
      </p:sp>
      <p:sp>
        <p:nvSpPr>
          <p:cNvPr id="13" name="Shape 11"/>
          <p:cNvSpPr/>
          <p:nvPr/>
        </p:nvSpPr>
        <p:spPr>
          <a:xfrm>
            <a:off x="3556000" y="4874369"/>
            <a:ext cx="38100" cy="355600"/>
          </a:xfrm>
          <a:prstGeom prst="roundRect">
            <a:avLst>
              <a:gd name="adj" fmla="val 50000"/>
            </a:avLst>
          </a:prstGeom>
          <a:solidFill>
            <a:srgbClr val="2F6B57"/>
          </a:solidFill>
          <a:ln/>
        </p:spPr>
      </p:sp>
      <p:sp>
        <p:nvSpPr>
          <p:cNvPr id="14" name="Text 12"/>
          <p:cNvSpPr/>
          <p:nvPr/>
        </p:nvSpPr>
        <p:spPr>
          <a:xfrm>
            <a:off x="9804400" y="4909939"/>
            <a:ext cx="1574800" cy="309860"/>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1F2D27"/>
                </a:solidFill>
                <a:latin typeface="Nunito" pitchFamily="34" charset="0"/>
                <a:ea typeface="Nunito" pitchFamily="34" charset="-122"/>
                <a:cs typeface="Nunito" pitchFamily="34" charset="-120"/>
              </a:rPr>
              <a:t>~$700K</a:t>
            </a:r>
            <a:endParaRPr lang="en-US" sz="1600" dirty="0"/>
          </a:p>
        </p:txBody>
      </p:sp>
      <p:sp>
        <p:nvSpPr>
          <p:cNvPr id="15" name="Text 13"/>
          <p:cNvSpPr/>
          <p:nvPr/>
        </p:nvSpPr>
        <p:spPr>
          <a:xfrm>
            <a:off x="812800" y="5618559"/>
            <a:ext cx="1088339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Bars to scale. Yearly revenue at $84 per circle; assumes 3 caregivers per circle and that 60% of working caregivers share care with family. Statistics Canada (2022); CCCE, Caring in Canada (2026).</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Meet coordinators where they ask for help</a:t>
            </a:r>
            <a:endParaRPr lang="en-US" sz="3600" dirty="0"/>
          </a:p>
        </p:txBody>
      </p:sp>
      <p:sp>
        <p:nvSpPr>
          <p:cNvPr id="3" name="Text 1"/>
          <p:cNvSpPr/>
          <p:nvPr/>
        </p:nvSpPr>
        <p:spPr>
          <a:xfrm>
            <a:off x="812800" y="1671290"/>
            <a:ext cx="627888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Where they are</a:t>
            </a:r>
            <a:endParaRPr lang="en-US" sz="1600" dirty="0"/>
          </a:p>
        </p:txBody>
      </p:sp>
      <p:sp>
        <p:nvSpPr>
          <p:cNvPr id="4" name="Text 2"/>
          <p:cNvSpPr/>
          <p:nvPr/>
        </p:nvSpPr>
        <p:spPr>
          <a:xfrm>
            <a:off x="812800" y="1940520"/>
            <a:ext cx="62788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Canadian caregiver Facebook groups, r/AgingParents and r/caregivers.</a:t>
            </a:r>
            <a:endParaRPr lang="en-US" sz="1600" dirty="0"/>
          </a:p>
        </p:txBody>
      </p:sp>
      <p:sp>
        <p:nvSpPr>
          <p:cNvPr id="5" name="Text 3"/>
          <p:cNvSpPr/>
          <p:nvPr/>
        </p:nvSpPr>
        <p:spPr>
          <a:xfrm>
            <a:off x="812800" y="2712641"/>
            <a:ext cx="627888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How we show up</a:t>
            </a:r>
            <a:endParaRPr lang="en-US" sz="1600" dirty="0"/>
          </a:p>
        </p:txBody>
      </p:sp>
      <p:sp>
        <p:nvSpPr>
          <p:cNvPr id="6" name="Text 4"/>
          <p:cNvSpPr/>
          <p:nvPr/>
        </p:nvSpPr>
        <p:spPr>
          <a:xfrm>
            <a:off x="812800" y="2981871"/>
            <a:ext cx="62788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Help first. A free "who does what" care roster template leads into Kindred.</a:t>
            </a:r>
            <a:endParaRPr lang="en-US" sz="1600" dirty="0"/>
          </a:p>
        </p:txBody>
      </p:sp>
      <p:sp>
        <p:nvSpPr>
          <p:cNvPr id="7" name="Text 5"/>
          <p:cNvSpPr/>
          <p:nvPr/>
        </p:nvSpPr>
        <p:spPr>
          <a:xfrm>
            <a:off x="812800" y="3753991"/>
            <a:ext cx="627888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How it spreads</a:t>
            </a:r>
            <a:endParaRPr lang="en-US" sz="1600" dirty="0"/>
          </a:p>
        </p:txBody>
      </p:sp>
      <p:sp>
        <p:nvSpPr>
          <p:cNvPr id="8" name="Text 6"/>
          <p:cNvSpPr/>
          <p:nvPr/>
        </p:nvSpPr>
        <p:spPr>
          <a:xfrm>
            <a:off x="812800" y="4023221"/>
            <a:ext cx="62788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We set up the first 20 circles by hand. Each brings 3–5 relatives who see it work.</a:t>
            </a:r>
            <a:endParaRPr lang="en-US" sz="1600" dirty="0"/>
          </a:p>
        </p:txBody>
      </p:sp>
      <p:sp>
        <p:nvSpPr>
          <p:cNvPr id="9" name="Shape 7"/>
          <p:cNvSpPr/>
          <p:nvPr/>
        </p:nvSpPr>
        <p:spPr>
          <a:xfrm>
            <a:off x="7315200" y="1671290"/>
            <a:ext cx="4064000" cy="2671961"/>
          </a:xfrm>
          <a:prstGeom prst="roundRect">
            <a:avLst>
              <a:gd name="adj" fmla="val 5228"/>
            </a:avLst>
          </a:prstGeom>
          <a:solidFill>
            <a:srgbClr val="E7F2EC"/>
          </a:solidFill>
          <a:ln/>
        </p:spPr>
      </p:sp>
      <p:sp>
        <p:nvSpPr>
          <p:cNvPr id="10" name="Text 8"/>
          <p:cNvSpPr/>
          <p:nvPr/>
        </p:nvSpPr>
        <p:spPr>
          <a:xfrm>
            <a:off x="7620000" y="1976090"/>
            <a:ext cx="355803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F2D27"/>
                </a:solidFill>
                <a:latin typeface="Nunito" pitchFamily="34" charset="0"/>
                <a:ea typeface="Nunito" pitchFamily="34" charset="-122"/>
                <a:cs typeface="Nunito" pitchFamily="34" charset="-120"/>
              </a:rPr>
              <a:t>Two-week test, $0</a:t>
            </a:r>
            <a:endParaRPr lang="en-US" sz="2200" dirty="0"/>
          </a:p>
        </p:txBody>
      </p:sp>
      <p:sp>
        <p:nvSpPr>
          <p:cNvPr id="11" name="Text 9"/>
          <p:cNvSpPr/>
          <p:nvPr/>
        </p:nvSpPr>
        <p:spPr>
          <a:xfrm>
            <a:off x="7620000" y="2463750"/>
            <a:ext cx="3558032" cy="8787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Keep going if</a:t>
            </a:r>
            <a:r>
              <a:rPr lang="en-US" sz="1600" dirty="0">
                <a:solidFill>
                  <a:srgbClr val="1F2D27"/>
                </a:solidFill>
                <a:latin typeface="Nunito" pitchFamily="34" charset="0"/>
                <a:ea typeface="Nunito" pitchFamily="34" charset="-122"/>
                <a:cs typeface="Nunito" pitchFamily="34" charset="-120"/>
              </a:rPr>
              <a:t> 5+ circles have 3+ members each and 2+ families have paid.</a:t>
            </a:r>
            <a:endParaRPr lang="en-US" sz="1600" dirty="0"/>
          </a:p>
        </p:txBody>
      </p:sp>
      <p:sp>
        <p:nvSpPr>
          <p:cNvPr id="12" name="Text 10"/>
          <p:cNvSpPr/>
          <p:nvPr/>
        </p:nvSpPr>
        <p:spPr>
          <a:xfrm>
            <a:off x="7620000" y="3469531"/>
            <a:ext cx="3558032" cy="59432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Change course if</a:t>
            </a:r>
            <a:r>
              <a:rPr lang="en-US" sz="1600" dirty="0">
                <a:solidFill>
                  <a:srgbClr val="1F2D27"/>
                </a:solidFill>
                <a:latin typeface="Nunito" pitchFamily="34" charset="0"/>
                <a:ea typeface="Nunito" pitchFamily="34" charset="-122"/>
                <a:cs typeface="Nunito" pitchFamily="34" charset="-120"/>
              </a:rPr>
              <a:t> fewer than 3 in 30 conversations lead to a trial.</a:t>
            </a:r>
            <a:endParaRPr lang="en-US" sz="1600" dirty="0"/>
          </a:p>
        </p:txBody>
      </p:sp>
      <p:sp>
        <p:nvSpPr>
          <p:cNvPr id="13" name="Evidence"/>
          <p:cNvSpPr txBox="1"/>
          <p:nvPr/>
        </p:nvSpPr>
        <p:spPr>
          <a:xfrm>
            <a:off x="813816" y="4983480"/>
            <a:ext cx="10570464" cy="6858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 trusted organization’s recommendation is the </a:t>
            </a:r>
            <a:r>
              <a:rPr lang="en-US" sz="1600" b="1" dirty="0">
                <a:solidFill>
                  <a:srgbClr val="2F6B57"/>
                </a:solidFill>
                <a:latin typeface="Nunito" pitchFamily="34" charset="0"/>
                <a:ea typeface="Nunito" pitchFamily="34" charset="-122"/>
                <a:cs typeface="Nunito" pitchFamily="34" charset="-120"/>
              </a:rPr>
              <a:t>#1 reason</a:t>
            </a:r>
            <a:r>
              <a:rPr lang="en-US" sz="1600" dirty="0">
                <a:solidFill>
                  <a:srgbClr val="3D4D46"/>
                </a:solidFill>
                <a:latin typeface="Nunito" pitchFamily="34" charset="0"/>
                <a:ea typeface="Nunito" pitchFamily="34" charset="-122"/>
                <a:cs typeface="Nunito" pitchFamily="34" charset="-120"/>
              </a:rPr>
              <a:t> caregivers adopt a tool (131 of 272).</a:t>
            </a:r>
            <a:endParaRPr lang="en-US" sz="1600" dirty="0"/>
          </a:p>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Caregiver Action Network, Caregiver Tech Insights Survey 2026 (272 US family caregivers)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981075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Families keep their chat. Kindred adds who said yes.</a:t>
            </a:r>
            <a:endParaRPr lang="en-US" sz="3600" dirty="0"/>
          </a:p>
        </p:txBody>
      </p:sp>
      <p:sp>
        <p:nvSpPr>
          <p:cNvPr id="3" name="Shape 1"/>
          <p:cNvSpPr/>
          <p:nvPr/>
        </p:nvSpPr>
        <p:spPr>
          <a:xfrm>
            <a:off x="812800" y="2180530"/>
            <a:ext cx="10566400" cy="0"/>
          </a:xfrm>
          <a:prstGeom prst="line">
            <a:avLst/>
          </a:prstGeom>
          <a:noFill/>
          <a:ln w="12700">
            <a:solidFill>
              <a:srgbClr val="141413">
                <a:alpha val="22000"/>
              </a:srgbClr>
            </a:solidFill>
            <a:prstDash val="solid"/>
          </a:ln>
        </p:spPr>
      </p:sp>
      <p:sp>
        <p:nvSpPr>
          <p:cNvPr id="4" name="Shape 2"/>
          <p:cNvSpPr/>
          <p:nvPr/>
        </p:nvSpPr>
        <p:spPr>
          <a:xfrm>
            <a:off x="819150" y="2174180"/>
            <a:ext cx="0" cy="2747863"/>
          </a:xfrm>
          <a:prstGeom prst="line">
            <a:avLst/>
          </a:prstGeom>
          <a:noFill/>
          <a:ln w="12700">
            <a:solidFill>
              <a:srgbClr val="141413">
                <a:alpha val="22000"/>
              </a:srgbClr>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52500" y="2313880"/>
          <a:ext cx="10299700" cy="2481165"/>
        </p:xfrm>
        <a:graphic>
          <a:graphicData uri="http://schemas.openxmlformats.org/drawingml/2006/table">
            <a:tbl>
              <a:tblPr/>
              <a:tblGrid>
                <a:gridCol w="3089910">
                  <a:extLst>
                    <a:ext uri="{9D8B030D-6E8A-4147-A177-3AD203B41FA5}">
                      <a16:colId xmlns:a16="http://schemas.microsoft.com/office/drawing/2014/main" val="20000"/>
                    </a:ext>
                  </a:extLst>
                </a:gridCol>
                <a:gridCol w="3398901">
                  <a:extLst>
                    <a:ext uri="{9D8B030D-6E8A-4147-A177-3AD203B41FA5}">
                      <a16:colId xmlns:a16="http://schemas.microsoft.com/office/drawing/2014/main" val="20001"/>
                    </a:ext>
                  </a:extLst>
                </a:gridCol>
                <a:gridCol w="3810889">
                  <a:extLst>
                    <a:ext uri="{9D8B030D-6E8A-4147-A177-3AD203B41FA5}">
                      <a16:colId xmlns:a16="http://schemas.microsoft.com/office/drawing/2014/main" val="20002"/>
                    </a:ext>
                  </a:extLst>
                </a:gridCol>
              </a:tblGrid>
              <a:tr h="439341">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Today they use</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Where it breaks</a:t>
                      </a:r>
                      <a:endParaRPr lang="en-US" sz="1600" dirty="0">
                        <a:latin typeface="Nunito" charset="0"/>
                        <a:ea typeface="Nunito" charset="0"/>
                        <a:cs typeface="Nunito" charset="0"/>
                      </a:endParaRPr>
                    </a:p>
                  </a:txBody>
                  <a:tcPr marL="71120" marR="71120" marT="71120" marB="71120">
                    <a:lnL w="12700" cap="flat" cmpd="sng" algn="ctr">
                      <a:solidFill>
                        <a:srgbClr val="B9C1BC"/>
                      </a:solidFill>
                      <a:prstDash val="solid"/>
                      <a:round/>
                      <a:headEnd type="none" w="med" len="med"/>
                      <a:tailEnd type="none" w="med" len="med"/>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What Kindred adds</a:t>
                      </a:r>
                      <a:endParaRPr lang="en-US" sz="1600" dirty="0">
                        <a:latin typeface="Nunito" charset="0"/>
                        <a:ea typeface="Nunito" charset="0"/>
                        <a:cs typeface="Nunito" charset="0"/>
                      </a:endParaRPr>
                    </a:p>
                  </a:txBody>
                  <a:tcPr marL="71120" marR="71120" marT="71120" marB="71120">
                    <a:lnL w="12700" cap="flat" cmpd="sng" algn="ctr">
                      <a:solidFill>
                        <a:srgbClr val="B9C1BC"/>
                      </a:solidFill>
                      <a:prstDash val="solid"/>
                      <a:round/>
                      <a:headEnd type="none" w="med" len="med"/>
                      <a:tailEnd type="none" w="med" len="med"/>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extLst>
                  <a:ext uri="{0D108BD9-81ED-4DB2-BD59-A6C34878D82A}">
                    <a16:rowId xmlns:a16="http://schemas.microsoft.com/office/drawing/2014/main" val="10000"/>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 group chat</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Tasks get buried; no owner</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Claimed tasks, shared back to the chat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1"/>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Shared calendars</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Shows when, not who agreed</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Who said yes, and who's free to cover</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2"/>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To-do apps and spreadsheets</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Not built for care</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Claim, decline or ask for cover</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3"/>
                  </a:ext>
                </a:extLst>
              </a:tr>
              <a:tr h="72380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Care apps like CircleCare and CaringBridge</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Ask families to leave their chat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Works alongside it, plus a weekly summary</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F6B5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Next: 10–20 founding families, November to January</a:t>
            </a:r>
            <a:endParaRPr lang="en-US" sz="1600" dirty="0"/>
          </a:p>
        </p:txBody>
      </p:sp>
      <p:sp>
        <p:nvSpPr>
          <p:cNvPr id="3" name="Text 1"/>
          <p:cNvSpPr>
            <a:spLocks noGrp="1"/>
          </p:cNvSpPr>
          <p:nvPr>
            <p:ph type="title"/>
          </p:nvPr>
        </p:nvSpPr>
        <p:spPr>
          <a:xfrm>
            <a:off x="812800" y="1402060"/>
            <a:ext cx="9810750" cy="16256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FBF8F1"/>
                </a:solidFill>
                <a:latin typeface="Nunito" pitchFamily="34" charset="0"/>
                <a:ea typeface="Nunito" pitchFamily="34" charset="-122"/>
                <a:cs typeface="Nunito" pitchFamily="34" charset="-120"/>
              </a:rPr>
              <a:t>Stop being the only one who remembers.</a:t>
            </a:r>
            <a:endParaRPr lang="en-US" sz="6000" dirty="0"/>
          </a:p>
        </p:txBody>
      </p:sp>
      <p:sp>
        <p:nvSpPr>
          <p:cNvPr id="4" name="Shape 2"/>
          <p:cNvSpPr/>
          <p:nvPr/>
        </p:nvSpPr>
        <p:spPr>
          <a:xfrm>
            <a:off x="812800" y="4921300"/>
            <a:ext cx="10566400" cy="0"/>
          </a:xfrm>
          <a:prstGeom prst="line">
            <a:avLst/>
          </a:prstGeom>
          <a:noFill/>
          <a:ln w="12700">
            <a:solidFill>
              <a:srgbClr val="8CC3AC"/>
            </a:solidFill>
            <a:prstDash val="solid"/>
          </a:ln>
        </p:spPr>
      </p:sp>
      <p:sp>
        <p:nvSpPr>
          <p:cNvPr id="5" name="Text 3"/>
          <p:cNvSpPr/>
          <p:nvPr/>
        </p:nvSpPr>
        <p:spPr>
          <a:xfrm>
            <a:off x="812800" y="5181650"/>
            <a:ext cx="512775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BF8F1"/>
                </a:solidFill>
                <a:latin typeface="Nunito" pitchFamily="34" charset="0"/>
                <a:ea typeface="Nunito" pitchFamily="34" charset="-122"/>
                <a:cs typeface="Nunito" pitchFamily="34" charset="-120"/>
              </a:rPr>
              <a:t>The one number we track</a:t>
            </a:r>
            <a:endParaRPr lang="en-US" sz="1600" dirty="0"/>
          </a:p>
        </p:txBody>
      </p:sp>
      <p:sp>
        <p:nvSpPr>
          <p:cNvPr id="6" name="Text 4"/>
          <p:cNvSpPr/>
          <p:nvPr/>
        </p:nvSpPr>
        <p:spPr>
          <a:xfrm>
            <a:off x="812800" y="5476280"/>
            <a:ext cx="5127752"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Weekly circles where helpers, not just the coordinator, complete tasks</a:t>
            </a:r>
            <a:endParaRPr lang="en-US" sz="1600" dirty="0"/>
          </a:p>
        </p:txBody>
      </p:sp>
      <p:sp>
        <p:nvSpPr>
          <p:cNvPr id="7" name="Text 5"/>
          <p:cNvSpPr/>
          <p:nvPr/>
        </p:nvSpPr>
        <p:spPr>
          <a:xfrm>
            <a:off x="6400800" y="5181650"/>
            <a:ext cx="512775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BF8F1"/>
                </a:solidFill>
                <a:latin typeface="Nunito" pitchFamily="34" charset="0"/>
                <a:ea typeface="Nunito" pitchFamily="34" charset="-122"/>
                <a:cs typeface="Nunito" pitchFamily="34" charset="-120"/>
              </a:rPr>
              <a:t>Our ask</a:t>
            </a:r>
            <a:endParaRPr lang="en-US" sz="1600" dirty="0"/>
          </a:p>
        </p:txBody>
      </p:sp>
      <p:sp>
        <p:nvSpPr>
          <p:cNvPr id="8" name="Text 6"/>
          <p:cNvSpPr/>
          <p:nvPr/>
        </p:nvSpPr>
        <p:spPr>
          <a:xfrm>
            <a:off x="6400800" y="5476280"/>
            <a:ext cx="5127752"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Introductions to caregiver groups and elder-care organizations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2F6B57"/>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813816" y="1828800"/>
            <a:ext cx="10564063" cy="914400"/>
          </a:xfrm>
          <a:prstGeom prst="rect">
            <a:avLst/>
          </a:prstGeom>
          <a:noFill/>
          <a:ln/>
        </p:spPr>
        <p:txBody>
          <a:bodyPr wrap="square" lIns="0" tIns="0" rIns="0" bIns="0" rtlCol="0" anchor="t">
            <a:normAutofit/>
          </a:bodyPr>
          <a:lstStyle/>
          <a:p>
            <a:pPr marL="0" indent="0" algn="l">
              <a:lnSpc>
                <a:spcPts val="6600"/>
              </a:lnSpc>
              <a:spcAft>
                <a:spcPts val="0"/>
              </a:spcAft>
              <a:buNone/>
            </a:pPr>
            <a:r>
              <a:rPr lang="en-US" sz="6000" b="1" dirty="0">
                <a:solidFill>
                  <a:srgbClr val="FBF8F1"/>
                </a:solidFill>
                <a:latin typeface="Nunito" pitchFamily="34" charset="0"/>
                <a:ea typeface="Nunito" pitchFamily="34" charset="-122"/>
                <a:cs typeface="Nunito" pitchFamily="34" charset="-120"/>
              </a:rPr>
              <a:t>Appendix</a:t>
            </a:r>
            <a:endParaRPr lang="en-US" sz="6000" dirty="0"/>
          </a:p>
        </p:txBody>
      </p:sp>
      <p:sp>
        <p:nvSpPr>
          <p:cNvPr id="3" name="Subtitle"/>
          <p:cNvSpPr txBox="1"/>
          <p:nvPr/>
        </p:nvSpPr>
        <p:spPr>
          <a:xfrm>
            <a:off x="813816" y="2788920"/>
            <a:ext cx="10564063" cy="365760"/>
          </a:xfrm>
          <a:prstGeom prst="rect">
            <a:avLst/>
          </a:prstGeom>
          <a:noFill/>
          <a:ln/>
        </p:spPr>
        <p:txBody>
          <a:bodyPr wrap="square" lIns="0" tIns="0" rIns="0" bIns="0" rtlCol="0" anchor="t">
            <a:normAutofit/>
          </a:bodyPr>
          <a:lstStyle/>
          <a:p>
            <a:pPr marL="0" indent="0" algn="l">
              <a:lnSpc>
                <a:spcPts val="2800"/>
              </a:lnSpc>
              <a:spcAft>
                <a:spcPts val="0"/>
              </a:spcAft>
              <a:buNone/>
            </a:pPr>
            <a:r>
              <a:rPr lang="en-US" sz="2000" dirty="0">
                <a:solidFill>
                  <a:srgbClr val="E7F2EC"/>
                </a:solidFill>
                <a:latin typeface="Nunito" pitchFamily="34" charset="0"/>
                <a:ea typeface="Nunito" pitchFamily="34" charset="-122"/>
                <a:cs typeface="Nunito" pitchFamily="34" charset="-120"/>
              </a:rPr>
              <a:t>Backup slides for the judges' questions</a:t>
            </a:r>
            <a:endParaRPr lang="en-US" sz="2000" dirty="0"/>
          </a:p>
        </p:txBody>
      </p:sp>
      <p:sp>
        <p:nvSpPr>
          <p:cNvPr id="4" name="Contents 1"/>
          <p:cNvSpPr txBox="1"/>
          <p:nvPr/>
        </p:nvSpPr>
        <p:spPr>
          <a:xfrm>
            <a:off x="813816" y="3749040"/>
            <a:ext cx="5120640" cy="1737360"/>
          </a:xfrm>
          <a:prstGeom prst="rect">
            <a:avLst/>
          </a:prstGeom>
          <a:noFill/>
          <a:ln/>
        </p:spPr>
        <p:txBody>
          <a:bodyPr wrap="square" lIns="0" tIns="0" rIns="0" bIns="0" rtlCol="0" anchor="t">
            <a:normAutofit/>
          </a:bodyPr>
          <a:lstStyle/>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A1  Research and validation</a:t>
            </a:r>
            <a:endParaRPr lang="en-US" sz="1600" dirty="0"/>
          </a:p>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A2  Pricing</a:t>
            </a:r>
            <a:endParaRPr lang="en-US" sz="1600" dirty="0"/>
          </a:p>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A3  Market size</a:t>
            </a:r>
            <a:endParaRPr lang="en-US" sz="1600" dirty="0"/>
          </a:p>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A4  How we compare</a:t>
            </a:r>
            <a:endParaRPr lang="en-US" sz="1600" dirty="0"/>
          </a:p>
        </p:txBody>
      </p:sp>
      <p:sp>
        <p:nvSpPr>
          <p:cNvPr id="5" name="Contents 2"/>
          <p:cNvSpPr txBox="1"/>
          <p:nvPr/>
        </p:nvSpPr>
        <p:spPr>
          <a:xfrm>
            <a:off x="6208776" y="3749040"/>
            <a:ext cx="5120640" cy="1737360"/>
          </a:xfrm>
          <a:prstGeom prst="rect">
            <a:avLst/>
          </a:prstGeom>
          <a:noFill/>
          <a:ln/>
        </p:spPr>
        <p:txBody>
          <a:bodyPr wrap="square" lIns="0" tIns="0" rIns="0" bIns="0" rtlCol="0" anchor="t">
            <a:normAutofit/>
          </a:bodyPr>
          <a:lstStyle/>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A5  How a sibling joins in</a:t>
            </a:r>
            <a:endParaRPr lang="en-US" sz="1600" dirty="0"/>
          </a:p>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A6  Privacy, security and AI</a:t>
            </a:r>
            <a:endParaRPr lang="en-US" sz="1600" dirty="0"/>
          </a:p>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A7  How it's built</a:t>
            </a:r>
            <a:endParaRPr lang="en-US" sz="1600" dirty="0"/>
          </a:p>
          <a:p>
            <a:pPr marL="0" indent="0" algn="l">
              <a:lnSpc>
                <a:spcPts val="2240"/>
              </a:lnSpc>
              <a:spcAft>
                <a:spcPts val="600"/>
              </a:spcAft>
              <a:buNone/>
            </a:pPr>
            <a:r>
              <a:rPr lang="en-US" sz="1600" dirty="0">
                <a:solidFill>
                  <a:srgbClr val="E7F2EC"/>
                </a:solidFill>
                <a:latin typeface="Nunito" pitchFamily="34" charset="0"/>
                <a:ea typeface="Nunito" pitchFamily="34" charset="-122"/>
                <a:cs typeface="Nunito" pitchFamily="34" charset="-120"/>
              </a:rPr>
              <a:t>A8  Roadmap, metrics and risks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A1</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What we know, and what we don't yet</a:t>
            </a:r>
            <a:endParaRPr lang="en-US" sz="3600" dirty="0"/>
          </a:p>
        </p:txBody>
      </p:sp>
      <p:sp>
        <p:nvSpPr>
          <p:cNvPr id="4" name="Card 1 card"/>
          <p:cNvSpPr/>
          <p:nvPr/>
        </p:nvSpPr>
        <p:spPr>
          <a:xfrm>
            <a:off x="813816" y="1691640"/>
            <a:ext cx="3338474" cy="3383280"/>
          </a:xfrm>
          <a:prstGeom prst="roundRect">
            <a:avLst>
              <a:gd name="adj" fmla="val 5228"/>
            </a:avLst>
          </a:prstGeom>
          <a:solidFill>
            <a:srgbClr val="E7F2EC"/>
          </a:solidFill>
          <a:ln/>
        </p:spPr>
      </p:sp>
      <p:sp>
        <p:nvSpPr>
          <p:cNvPr id="5" name="Card 1 text"/>
          <p:cNvSpPr txBox="1"/>
          <p:nvPr/>
        </p:nvSpPr>
        <p:spPr>
          <a:xfrm>
            <a:off x="1088136" y="1965960"/>
            <a:ext cx="2789834" cy="292608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What we know</a:t>
            </a:r>
            <a:endParaRPr lang="en-US" sz="20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37% of caregivers spend 11+ hours a week just coordinating care</a:t>
            </a:r>
            <a:endParaRPr lang="en-US" sz="16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1 in 3 say their care feels fragmented</a:t>
            </a:r>
            <a:endParaRPr lang="en-US" sz="16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26% say coordination is where tech could help most</a:t>
            </a:r>
            <a:endParaRPr lang="en-US" sz="1600" dirty="0"/>
          </a:p>
        </p:txBody>
      </p:sp>
      <p:sp>
        <p:nvSpPr>
          <p:cNvPr id="6" name="Card 2 card"/>
          <p:cNvSpPr/>
          <p:nvPr/>
        </p:nvSpPr>
        <p:spPr>
          <a:xfrm>
            <a:off x="4426610" y="1691640"/>
            <a:ext cx="3338474" cy="3383280"/>
          </a:xfrm>
          <a:prstGeom prst="roundRect">
            <a:avLst>
              <a:gd name="adj" fmla="val 5228"/>
            </a:avLst>
          </a:prstGeom>
          <a:solidFill>
            <a:srgbClr val="E7F2EC"/>
          </a:solidFill>
          <a:ln/>
        </p:spPr>
      </p:sp>
      <p:sp>
        <p:nvSpPr>
          <p:cNvPr id="7" name="Card 2 text"/>
          <p:cNvSpPr txBox="1"/>
          <p:nvPr/>
        </p:nvSpPr>
        <p:spPr>
          <a:xfrm>
            <a:off x="4700930" y="1965960"/>
            <a:ext cx="2789834" cy="292608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8A5A12"/>
                </a:solidFill>
                <a:latin typeface="Nunito" pitchFamily="34" charset="0"/>
                <a:ea typeface="Nunito" pitchFamily="34" charset="-122"/>
                <a:cs typeface="Nunito" pitchFamily="34" charset="-120"/>
              </a:rPr>
              <a:t>Not known yet</a:t>
            </a:r>
            <a:endParaRPr lang="en-US" sz="20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Whether siblings share care the way we think</a:t>
            </a:r>
            <a:endParaRPr lang="en-US" sz="16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Whether helpers, not just coordinators, will claim tasks</a:t>
            </a:r>
            <a:endParaRPr lang="en-US" sz="16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Whether coordinators will pay</a:t>
            </a:r>
            <a:endParaRPr lang="en-US" sz="1600" dirty="0"/>
          </a:p>
        </p:txBody>
      </p:sp>
      <p:sp>
        <p:nvSpPr>
          <p:cNvPr id="8" name="Card 3 card"/>
          <p:cNvSpPr/>
          <p:nvPr/>
        </p:nvSpPr>
        <p:spPr>
          <a:xfrm>
            <a:off x="8039405" y="1691640"/>
            <a:ext cx="3338474" cy="3383280"/>
          </a:xfrm>
          <a:prstGeom prst="roundRect">
            <a:avLst>
              <a:gd name="adj" fmla="val 5228"/>
            </a:avLst>
          </a:prstGeom>
          <a:solidFill>
            <a:srgbClr val="E7F2EC"/>
          </a:solidFill>
          <a:ln/>
        </p:spPr>
      </p:sp>
      <p:sp>
        <p:nvSpPr>
          <p:cNvPr id="9" name="Card 3 text"/>
          <p:cNvSpPr txBox="1"/>
          <p:nvPr/>
        </p:nvSpPr>
        <p:spPr>
          <a:xfrm>
            <a:off x="8313725" y="1965960"/>
            <a:ext cx="2789834" cy="292608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1F2D27"/>
                </a:solidFill>
                <a:latin typeface="Nunito" pitchFamily="34" charset="0"/>
                <a:ea typeface="Nunito" pitchFamily="34" charset="-122"/>
                <a:cs typeface="Nunito" pitchFamily="34" charset="-120"/>
              </a:rPr>
              <a:t>How we'll find out</a:t>
            </a:r>
            <a:endParaRPr lang="en-US" sz="20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Usability tests with the working prototype</a:t>
            </a:r>
            <a:endParaRPr lang="en-US" sz="16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A two-week test in caregiver groups</a:t>
            </a:r>
            <a:endParaRPr lang="en-US" sz="1600" dirty="0"/>
          </a:p>
          <a:p>
            <a:pPr marL="228600" indent="-228600" algn="l">
              <a:lnSpc>
                <a:spcPts val="2240"/>
              </a:lnSpc>
              <a:spcAft>
                <a:spcPts val="700"/>
              </a:spcAft>
              <a:buFont typeface="Arial"/>
              <a:buChar char="•"/>
            </a:pPr>
            <a:r>
              <a:rPr lang="en-US" sz="1600" dirty="0">
                <a:solidFill>
                  <a:srgbClr val="3D4D46"/>
                </a:solidFill>
                <a:latin typeface="Nunito" pitchFamily="34" charset="0"/>
                <a:ea typeface="Nunito" pitchFamily="34" charset="-122"/>
                <a:cs typeface="Nunito" pitchFamily="34" charset="-120"/>
              </a:rPr>
              <a:t>10–20 founding families, November to January</a:t>
            </a:r>
            <a:endParaRPr lang="en-US" sz="1600" dirty="0"/>
          </a:p>
        </p:txBody>
      </p:sp>
      <p:sp>
        <p:nvSpPr>
          <p:cNvPr id="10" name="Source"/>
          <p:cNvSpPr txBox="1"/>
          <p:nvPr/>
        </p:nvSpPr>
        <p:spPr>
          <a:xfrm>
            <a:off x="813816" y="5349240"/>
            <a:ext cx="10564063" cy="411480"/>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dirty="0">
                <a:solidFill>
                  <a:srgbClr val="5B6B63"/>
                </a:solidFill>
                <a:latin typeface="Nunito" pitchFamily="34" charset="0"/>
                <a:ea typeface="Nunito" pitchFamily="34" charset="-122"/>
                <a:cs typeface="Nunito" pitchFamily="34" charset="-120"/>
              </a:rPr>
              <a:t>What we know: Caregiver Action Network, Caregiver Tech Insights Survey 2026 (272 US family caregivers).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A2</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Pricing is our biggest risk</a:t>
            </a:r>
            <a:endParaRPr lang="en-US" sz="3600" dirty="0"/>
          </a:p>
        </p:txBody>
      </p:sp>
      <p:sp>
        <p:nvSpPr>
          <p:cNvPr id="4" name="Column 1 head"/>
          <p:cNvSpPr txBox="1"/>
          <p:nvPr/>
        </p:nvSpPr>
        <p:spPr>
          <a:xfrm>
            <a:off x="813816" y="1691640"/>
            <a:ext cx="5029200" cy="274320"/>
          </a:xfrm>
          <a:prstGeom prst="rect">
            <a:avLst/>
          </a:prstGeom>
          <a:noFill/>
          <a:ln/>
        </p:spPr>
        <p:txBody>
          <a:bodyPr wrap="square" lIns="0" tIns="0" rIns="0" bIns="0" rtlCol="0" anchor="t">
            <a:normAutofit/>
          </a:bodyPr>
          <a:lstStyle/>
          <a:p>
            <a:pPr marL="0" indent="0" algn="l">
              <a:lnSpc>
                <a:spcPts val="1959"/>
              </a:lnSpc>
              <a:spcAft>
                <a:spcPts val="0"/>
              </a:spcAft>
              <a:buNone/>
            </a:pPr>
            <a:r>
              <a:rPr lang="en-US" sz="1400" b="1" dirty="0">
                <a:solidFill>
                  <a:srgbClr val="1F2D27"/>
                </a:solidFill>
                <a:latin typeface="Nunito" pitchFamily="34" charset="0"/>
                <a:ea typeface="Nunito" pitchFamily="34" charset="-122"/>
                <a:cs typeface="Nunito" pitchFamily="34" charset="-120"/>
              </a:rPr>
              <a:t>Our pricing</a:t>
            </a:r>
            <a:endParaRPr lang="en-US" sz="1400" dirty="0"/>
          </a:p>
        </p:txBody>
      </p:sp>
      <p:sp>
        <p:nvSpPr>
          <p:cNvPr id="5" name="Column 1 rule 0"/>
          <p:cNvSpPr/>
          <p:nvPr/>
        </p:nvSpPr>
        <p:spPr>
          <a:xfrm>
            <a:off x="813816" y="2103120"/>
            <a:ext cx="5029200" cy="0"/>
          </a:xfrm>
          <a:prstGeom prst="line">
            <a:avLst/>
          </a:prstGeom>
          <a:noFill/>
          <a:ln w="12700">
            <a:solidFill>
              <a:srgbClr val="8CC3AC"/>
            </a:solidFill>
            <a:prstDash val="solid"/>
          </a:ln>
        </p:spPr>
      </p:sp>
      <p:sp>
        <p:nvSpPr>
          <p:cNvPr id="6" name="Column 1 1 stat"/>
          <p:cNvSpPr txBox="1"/>
          <p:nvPr/>
        </p:nvSpPr>
        <p:spPr>
          <a:xfrm>
            <a:off x="813816" y="2240280"/>
            <a:ext cx="146304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$5</a:t>
            </a:r>
            <a:endParaRPr lang="en-US" sz="3600" dirty="0"/>
          </a:p>
        </p:txBody>
      </p:sp>
      <p:sp>
        <p:nvSpPr>
          <p:cNvPr id="7" name="Column 1 1 label"/>
          <p:cNvSpPr txBox="1"/>
          <p:nvPr/>
        </p:nvSpPr>
        <p:spPr>
          <a:xfrm>
            <a:off x="2414016" y="2350008"/>
            <a:ext cx="3429000"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a month for the first 100 founding families, locked in</a:t>
            </a:r>
            <a:endParaRPr lang="en-US" sz="1600" dirty="0"/>
          </a:p>
        </p:txBody>
      </p:sp>
      <p:sp>
        <p:nvSpPr>
          <p:cNvPr id="8" name="Column 1 rule 1"/>
          <p:cNvSpPr/>
          <p:nvPr/>
        </p:nvSpPr>
        <p:spPr>
          <a:xfrm>
            <a:off x="813816" y="3017520"/>
            <a:ext cx="5029200" cy="0"/>
          </a:xfrm>
          <a:prstGeom prst="line">
            <a:avLst/>
          </a:prstGeom>
          <a:noFill/>
          <a:ln w="12700">
            <a:solidFill>
              <a:srgbClr val="8CC3AC"/>
            </a:solidFill>
            <a:prstDash val="solid"/>
          </a:ln>
        </p:spPr>
      </p:sp>
      <p:sp>
        <p:nvSpPr>
          <p:cNvPr id="9" name="Column 1 2 stat"/>
          <p:cNvSpPr txBox="1"/>
          <p:nvPr/>
        </p:nvSpPr>
        <p:spPr>
          <a:xfrm>
            <a:off x="813816" y="3154680"/>
            <a:ext cx="146304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$7</a:t>
            </a:r>
            <a:endParaRPr lang="en-US" sz="3600" dirty="0"/>
          </a:p>
        </p:txBody>
      </p:sp>
      <p:sp>
        <p:nvSpPr>
          <p:cNvPr id="10" name="Column 1 2 label"/>
          <p:cNvSpPr txBox="1"/>
          <p:nvPr/>
        </p:nvSpPr>
        <p:spPr>
          <a:xfrm>
            <a:off x="2414016" y="3264408"/>
            <a:ext cx="3429000"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a month, or $70 a year, after that</a:t>
            </a:r>
            <a:endParaRPr lang="en-US" sz="1600" dirty="0"/>
          </a:p>
        </p:txBody>
      </p:sp>
      <p:sp>
        <p:nvSpPr>
          <p:cNvPr id="11" name="Column 1 rule 2"/>
          <p:cNvSpPr/>
          <p:nvPr/>
        </p:nvSpPr>
        <p:spPr>
          <a:xfrm>
            <a:off x="813816" y="3931920"/>
            <a:ext cx="5029200" cy="0"/>
          </a:xfrm>
          <a:prstGeom prst="line">
            <a:avLst/>
          </a:prstGeom>
          <a:noFill/>
          <a:ln w="12700">
            <a:solidFill>
              <a:srgbClr val="8CC3AC"/>
            </a:solidFill>
            <a:prstDash val="solid"/>
          </a:ln>
        </p:spPr>
      </p:sp>
      <p:sp>
        <p:nvSpPr>
          <p:cNvPr id="12" name="Column 1 3 stat"/>
          <p:cNvSpPr txBox="1"/>
          <p:nvPr/>
        </p:nvSpPr>
        <p:spPr>
          <a:xfrm>
            <a:off x="813816" y="4069080"/>
            <a:ext cx="146304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$0</a:t>
            </a:r>
            <a:endParaRPr lang="en-US" sz="3600" dirty="0"/>
          </a:p>
        </p:txBody>
      </p:sp>
      <p:sp>
        <p:nvSpPr>
          <p:cNvPr id="13" name="Column 1 3 label"/>
          <p:cNvSpPr txBox="1"/>
          <p:nvPr/>
        </p:nvSpPr>
        <p:spPr>
          <a:xfrm>
            <a:off x="2414016" y="4178808"/>
            <a:ext cx="3429000"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for helpers, always</a:t>
            </a:r>
            <a:endParaRPr lang="en-US" sz="1600" dirty="0"/>
          </a:p>
        </p:txBody>
      </p:sp>
      <p:sp>
        <p:nvSpPr>
          <p:cNvPr id="14" name="Column 1 rule 3"/>
          <p:cNvSpPr/>
          <p:nvPr/>
        </p:nvSpPr>
        <p:spPr>
          <a:xfrm>
            <a:off x="813816" y="4846320"/>
            <a:ext cx="5029200" cy="0"/>
          </a:xfrm>
          <a:prstGeom prst="line">
            <a:avLst/>
          </a:prstGeom>
          <a:noFill/>
          <a:ln w="12700">
            <a:solidFill>
              <a:srgbClr val="8CC3AC"/>
            </a:solidFill>
            <a:prstDash val="solid"/>
          </a:ln>
        </p:spPr>
      </p:sp>
      <p:sp>
        <p:nvSpPr>
          <p:cNvPr id="15" name="Column 2 head"/>
          <p:cNvSpPr txBox="1"/>
          <p:nvPr/>
        </p:nvSpPr>
        <p:spPr>
          <a:xfrm>
            <a:off x="6348679" y="1691640"/>
            <a:ext cx="5029200" cy="274320"/>
          </a:xfrm>
          <a:prstGeom prst="rect">
            <a:avLst/>
          </a:prstGeom>
          <a:noFill/>
          <a:ln/>
        </p:spPr>
        <p:txBody>
          <a:bodyPr wrap="square" lIns="0" tIns="0" rIns="0" bIns="0" rtlCol="0" anchor="t">
            <a:normAutofit/>
          </a:bodyPr>
          <a:lstStyle/>
          <a:p>
            <a:pPr marL="0" indent="0" algn="l">
              <a:lnSpc>
                <a:spcPts val="1959"/>
              </a:lnSpc>
              <a:spcAft>
                <a:spcPts val="0"/>
              </a:spcAft>
              <a:buNone/>
            </a:pPr>
            <a:r>
              <a:rPr lang="en-US" sz="1400" b="1" dirty="0">
                <a:solidFill>
                  <a:srgbClr val="1F2D27"/>
                </a:solidFill>
                <a:latin typeface="Nunito" pitchFamily="34" charset="0"/>
                <a:ea typeface="Nunito" pitchFamily="34" charset="-122"/>
                <a:cs typeface="Nunito" pitchFamily="34" charset="-120"/>
              </a:rPr>
              <a:t>What caregivers said (US survey)</a:t>
            </a:r>
            <a:endParaRPr lang="en-US" sz="1400" dirty="0"/>
          </a:p>
        </p:txBody>
      </p:sp>
      <p:sp>
        <p:nvSpPr>
          <p:cNvPr id="16" name="Column 2 rule 0"/>
          <p:cNvSpPr/>
          <p:nvPr/>
        </p:nvSpPr>
        <p:spPr>
          <a:xfrm>
            <a:off x="6348679" y="2103120"/>
            <a:ext cx="5029200" cy="0"/>
          </a:xfrm>
          <a:prstGeom prst="line">
            <a:avLst/>
          </a:prstGeom>
          <a:noFill/>
          <a:ln w="12700">
            <a:solidFill>
              <a:srgbClr val="8CC3AC"/>
            </a:solidFill>
            <a:prstDash val="solid"/>
          </a:ln>
        </p:spPr>
      </p:sp>
      <p:sp>
        <p:nvSpPr>
          <p:cNvPr id="17" name="Column 2 1 stat"/>
          <p:cNvSpPr txBox="1"/>
          <p:nvPr/>
        </p:nvSpPr>
        <p:spPr>
          <a:xfrm>
            <a:off x="6348679" y="2240280"/>
            <a:ext cx="146304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1F2D27"/>
                </a:solidFill>
                <a:latin typeface="Nunito" pitchFamily="34" charset="0"/>
                <a:ea typeface="Nunito" pitchFamily="34" charset="-122"/>
                <a:cs typeface="Nunito" pitchFamily="34" charset="-120"/>
              </a:rPr>
              <a:t>32%</a:t>
            </a:r>
            <a:endParaRPr lang="en-US" sz="3600" dirty="0"/>
          </a:p>
        </p:txBody>
      </p:sp>
      <p:sp>
        <p:nvSpPr>
          <p:cNvPr id="18" name="Column 2 1 label"/>
          <p:cNvSpPr txBox="1"/>
          <p:nvPr/>
        </p:nvSpPr>
        <p:spPr>
          <a:xfrm>
            <a:off x="7948879" y="2350008"/>
            <a:ext cx="3429000"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say any helpful tool should be free</a:t>
            </a:r>
            <a:endParaRPr lang="en-US" sz="1600" dirty="0"/>
          </a:p>
        </p:txBody>
      </p:sp>
      <p:sp>
        <p:nvSpPr>
          <p:cNvPr id="19" name="Column 2 rule 1"/>
          <p:cNvSpPr/>
          <p:nvPr/>
        </p:nvSpPr>
        <p:spPr>
          <a:xfrm>
            <a:off x="6348679" y="3017520"/>
            <a:ext cx="5029200" cy="0"/>
          </a:xfrm>
          <a:prstGeom prst="line">
            <a:avLst/>
          </a:prstGeom>
          <a:noFill/>
          <a:ln w="12700">
            <a:solidFill>
              <a:srgbClr val="8CC3AC"/>
            </a:solidFill>
            <a:prstDash val="solid"/>
          </a:ln>
        </p:spPr>
      </p:sp>
      <p:sp>
        <p:nvSpPr>
          <p:cNvPr id="20" name="Column 2 2 stat"/>
          <p:cNvSpPr txBox="1"/>
          <p:nvPr/>
        </p:nvSpPr>
        <p:spPr>
          <a:xfrm>
            <a:off x="6348679" y="3154680"/>
            <a:ext cx="146304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1F2D27"/>
                </a:solidFill>
                <a:latin typeface="Nunito" pitchFamily="34" charset="0"/>
                <a:ea typeface="Nunito" pitchFamily="34" charset="-122"/>
                <a:cs typeface="Nunito" pitchFamily="34" charset="-120"/>
              </a:rPr>
              <a:t>28%</a:t>
            </a:r>
            <a:endParaRPr lang="en-US" sz="3600" dirty="0"/>
          </a:p>
        </p:txBody>
      </p:sp>
      <p:sp>
        <p:nvSpPr>
          <p:cNvPr id="21" name="Column 2 2 label"/>
          <p:cNvSpPr txBox="1"/>
          <p:nvPr/>
        </p:nvSpPr>
        <p:spPr>
          <a:xfrm>
            <a:off x="7948879" y="3264408"/>
            <a:ext cx="3429000"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would pay $11–25 a month to reduce stress</a:t>
            </a:r>
            <a:endParaRPr lang="en-US" sz="1600" dirty="0"/>
          </a:p>
        </p:txBody>
      </p:sp>
      <p:sp>
        <p:nvSpPr>
          <p:cNvPr id="22" name="Column 2 rule 2"/>
          <p:cNvSpPr/>
          <p:nvPr/>
        </p:nvSpPr>
        <p:spPr>
          <a:xfrm>
            <a:off x="6348679" y="3931920"/>
            <a:ext cx="5029200" cy="0"/>
          </a:xfrm>
          <a:prstGeom prst="line">
            <a:avLst/>
          </a:prstGeom>
          <a:noFill/>
          <a:ln w="12700">
            <a:solidFill>
              <a:srgbClr val="8CC3AC"/>
            </a:solidFill>
            <a:prstDash val="solid"/>
          </a:ln>
        </p:spPr>
      </p:sp>
      <p:sp>
        <p:nvSpPr>
          <p:cNvPr id="23" name="Column 2 3 stat"/>
          <p:cNvSpPr txBox="1"/>
          <p:nvPr/>
        </p:nvSpPr>
        <p:spPr>
          <a:xfrm>
            <a:off x="6348679" y="4069080"/>
            <a:ext cx="146304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1F2D27"/>
                </a:solidFill>
                <a:latin typeface="Nunito" pitchFamily="34" charset="0"/>
                <a:ea typeface="Nunito" pitchFamily="34" charset="-122"/>
                <a:cs typeface="Nunito" pitchFamily="34" charset="-120"/>
              </a:rPr>
              <a:t>12%</a:t>
            </a:r>
            <a:endParaRPr lang="en-US" sz="3600" dirty="0"/>
          </a:p>
        </p:txBody>
      </p:sp>
      <p:sp>
        <p:nvSpPr>
          <p:cNvPr id="24" name="Column 2 3 label"/>
          <p:cNvSpPr txBox="1"/>
          <p:nvPr/>
        </p:nvSpPr>
        <p:spPr>
          <a:xfrm>
            <a:off x="7948879" y="4178808"/>
            <a:ext cx="3429000"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would pay out of pocket</a:t>
            </a:r>
            <a:endParaRPr lang="en-US" sz="1600" dirty="0"/>
          </a:p>
        </p:txBody>
      </p:sp>
      <p:sp>
        <p:nvSpPr>
          <p:cNvPr id="25" name="Column 2 rule 3"/>
          <p:cNvSpPr/>
          <p:nvPr/>
        </p:nvSpPr>
        <p:spPr>
          <a:xfrm>
            <a:off x="6348679" y="4846320"/>
            <a:ext cx="5029200" cy="0"/>
          </a:xfrm>
          <a:prstGeom prst="line">
            <a:avLst/>
          </a:prstGeom>
          <a:noFill/>
          <a:ln w="12700">
            <a:solidFill>
              <a:srgbClr val="8CC3AC"/>
            </a:solidFill>
            <a:prstDash val="solid"/>
          </a:ln>
        </p:spPr>
      </p:sp>
      <p:sp>
        <p:nvSpPr>
          <p:cNvPr id="26" name="Mitigation"/>
          <p:cNvSpPr txBox="1"/>
          <p:nvPr/>
        </p:nvSpPr>
        <p:spPr>
          <a:xfrm>
            <a:off x="813816" y="5120640"/>
            <a:ext cx="10564063" cy="64008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b="1" dirty="0">
                <a:solidFill>
                  <a:srgbClr val="1F2D27"/>
                </a:solidFill>
                <a:latin typeface="Nunito" pitchFamily="34" charset="0"/>
                <a:ea typeface="Nunito" pitchFamily="34" charset="-122"/>
                <a:cs typeface="Nunito" pitchFamily="34" charset="-120"/>
              </a:rPr>
              <a:t>How we lower the risk: </a:t>
            </a:r>
            <a:r>
              <a:rPr lang="en-US" sz="1600" dirty="0">
                <a:solidFill>
                  <a:srgbClr val="3D4D46"/>
                </a:solidFill>
                <a:latin typeface="Nunito" pitchFamily="34" charset="0"/>
                <a:ea typeface="Nunito" pitchFamily="34" charset="-122"/>
                <a:cs typeface="Nunito" pitchFamily="34" charset="-120"/>
              </a:rPr>
              <a:t>a 30-day money-back guarantee, charging from day one so we learn fast, and later, employer caregiver benefits or partner-funded access.</a:t>
            </a:r>
            <a:endParaRPr lang="en-US" sz="1600" dirty="0"/>
          </a:p>
        </p:txBody>
      </p:sp>
      <p:sp>
        <p:nvSpPr>
          <p:cNvPr id="27" name="Source"/>
          <p:cNvSpPr txBox="1"/>
          <p:nvPr/>
        </p:nvSpPr>
        <p:spPr>
          <a:xfrm>
            <a:off x="813816" y="6053328"/>
            <a:ext cx="10564063" cy="411480"/>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dirty="0">
                <a:solidFill>
                  <a:srgbClr val="5B6B63"/>
                </a:solidFill>
                <a:latin typeface="Nunito" pitchFamily="34" charset="0"/>
                <a:ea typeface="Nunito" pitchFamily="34" charset="-122"/>
                <a:cs typeface="Nunito" pitchFamily="34" charset="-120"/>
              </a:rPr>
              <a:t>Caregiver figures: Caregiver Action Network, Caregiver Tech Insights Survey 2026 (272 US family caregivers).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A3</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How we sized the market</a:t>
            </a:r>
            <a:endParaRPr lang="en-US" sz="3600" dirty="0"/>
          </a:p>
        </p:txBody>
      </p:sp>
      <p:sp>
        <p:nvSpPr>
          <p:cNvPr id="4" name="Rule 0"/>
          <p:cNvSpPr/>
          <p:nvPr/>
        </p:nvSpPr>
        <p:spPr>
          <a:xfrm>
            <a:off x="813816" y="1691640"/>
            <a:ext cx="10564063" cy="0"/>
          </a:xfrm>
          <a:prstGeom prst="line">
            <a:avLst/>
          </a:prstGeom>
          <a:noFill/>
          <a:ln w="12700">
            <a:solidFill>
              <a:srgbClr val="8CC3AC"/>
            </a:solidFill>
            <a:prstDash val="solid"/>
          </a:ln>
        </p:spPr>
      </p:sp>
      <p:sp>
        <p:nvSpPr>
          <p:cNvPr id="5" name="Row 1 stat"/>
          <p:cNvSpPr txBox="1"/>
          <p:nvPr/>
        </p:nvSpPr>
        <p:spPr>
          <a:xfrm>
            <a:off x="813816" y="1828800"/>
            <a:ext cx="219456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6.7M</a:t>
            </a:r>
            <a:endParaRPr lang="en-US" sz="3600" dirty="0"/>
          </a:p>
        </p:txBody>
      </p:sp>
      <p:sp>
        <p:nvSpPr>
          <p:cNvPr id="6" name="Row 1 label"/>
          <p:cNvSpPr txBox="1"/>
          <p:nvPr/>
        </p:nvSpPr>
        <p:spPr>
          <a:xfrm>
            <a:off x="3145536" y="2011680"/>
            <a:ext cx="5669280" cy="36576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Canadians give unpaid care to adults</a:t>
            </a:r>
            <a:endParaRPr lang="en-US" sz="1600" dirty="0"/>
          </a:p>
        </p:txBody>
      </p:sp>
      <p:sp>
        <p:nvSpPr>
          <p:cNvPr id="7" name="Rule 1"/>
          <p:cNvSpPr/>
          <p:nvPr/>
        </p:nvSpPr>
        <p:spPr>
          <a:xfrm>
            <a:off x="813816" y="2606040"/>
            <a:ext cx="10564063" cy="0"/>
          </a:xfrm>
          <a:prstGeom prst="line">
            <a:avLst/>
          </a:prstGeom>
          <a:noFill/>
          <a:ln w="12700">
            <a:solidFill>
              <a:srgbClr val="8CC3AC"/>
            </a:solidFill>
            <a:prstDash val="solid"/>
          </a:ln>
        </p:spPr>
      </p:sp>
      <p:sp>
        <p:nvSpPr>
          <p:cNvPr id="8" name="Row 2 stat"/>
          <p:cNvSpPr txBox="1"/>
          <p:nvPr/>
        </p:nvSpPr>
        <p:spPr>
          <a:xfrm>
            <a:off x="813816" y="2743200"/>
            <a:ext cx="219456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~2.2M</a:t>
            </a:r>
            <a:endParaRPr lang="en-US" sz="3600" dirty="0"/>
          </a:p>
        </p:txBody>
      </p:sp>
      <p:sp>
        <p:nvSpPr>
          <p:cNvPr id="9" name="Row 2 label"/>
          <p:cNvSpPr txBox="1"/>
          <p:nvPr/>
        </p:nvSpPr>
        <p:spPr>
          <a:xfrm>
            <a:off x="3145536" y="2926080"/>
            <a:ext cx="5669280" cy="36576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care circles, at about 3 caregivers each (TAM)</a:t>
            </a:r>
            <a:endParaRPr lang="en-US" sz="1600" dirty="0"/>
          </a:p>
        </p:txBody>
      </p:sp>
      <p:sp>
        <p:nvSpPr>
          <p:cNvPr id="10" name="Row 2 value"/>
          <p:cNvSpPr txBox="1"/>
          <p:nvPr/>
        </p:nvSpPr>
        <p:spPr>
          <a:xfrm>
            <a:off x="8951976" y="2889504"/>
            <a:ext cx="2425903" cy="365760"/>
          </a:xfrm>
          <a:prstGeom prst="rect">
            <a:avLst/>
          </a:prstGeom>
          <a:noFill/>
          <a:ln/>
        </p:spPr>
        <p:txBody>
          <a:bodyPr wrap="square" lIns="0" tIns="0" rIns="0" bIns="0" rtlCol="0" anchor="t">
            <a:normAutofit/>
          </a:bodyPr>
          <a:lstStyle/>
          <a:p>
            <a:pPr marL="0" indent="0" algn="r">
              <a:lnSpc>
                <a:spcPts val="2800"/>
              </a:lnSpc>
              <a:spcAft>
                <a:spcPts val="0"/>
              </a:spcAft>
              <a:buNone/>
            </a:pPr>
            <a:r>
              <a:rPr lang="en-US" sz="2000" b="1" dirty="0">
                <a:solidFill>
                  <a:srgbClr val="1F2D27"/>
                </a:solidFill>
                <a:latin typeface="Nunito" pitchFamily="34" charset="0"/>
                <a:ea typeface="Nunito" pitchFamily="34" charset="-122"/>
                <a:cs typeface="Nunito" pitchFamily="34" charset="-120"/>
              </a:rPr>
              <a:t>~$185M a year</a:t>
            </a:r>
            <a:endParaRPr lang="en-US" sz="2000" dirty="0"/>
          </a:p>
        </p:txBody>
      </p:sp>
      <p:sp>
        <p:nvSpPr>
          <p:cNvPr id="11" name="Rule 2"/>
          <p:cNvSpPr/>
          <p:nvPr/>
        </p:nvSpPr>
        <p:spPr>
          <a:xfrm>
            <a:off x="813816" y="3520440"/>
            <a:ext cx="10564063" cy="0"/>
          </a:xfrm>
          <a:prstGeom prst="line">
            <a:avLst/>
          </a:prstGeom>
          <a:noFill/>
          <a:ln w="12700">
            <a:solidFill>
              <a:srgbClr val="8CC3AC"/>
            </a:solidFill>
            <a:prstDash val="solid"/>
          </a:ln>
        </p:spPr>
      </p:sp>
      <p:sp>
        <p:nvSpPr>
          <p:cNvPr id="12" name="Row 3 stat"/>
          <p:cNvSpPr txBox="1"/>
          <p:nvPr/>
        </p:nvSpPr>
        <p:spPr>
          <a:xfrm>
            <a:off x="813816" y="3657600"/>
            <a:ext cx="219456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~420K</a:t>
            </a:r>
            <a:endParaRPr lang="en-US" sz="3600" dirty="0"/>
          </a:p>
        </p:txBody>
      </p:sp>
      <p:sp>
        <p:nvSpPr>
          <p:cNvPr id="13" name="Row 3 label"/>
          <p:cNvSpPr txBox="1"/>
          <p:nvPr/>
        </p:nvSpPr>
        <p:spPr>
          <a:xfrm>
            <a:off x="3145536" y="3840480"/>
            <a:ext cx="5669280" cy="36576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circles of working adults sharing a parent's care (SAM)</a:t>
            </a:r>
            <a:endParaRPr lang="en-US" sz="1600" dirty="0"/>
          </a:p>
        </p:txBody>
      </p:sp>
      <p:sp>
        <p:nvSpPr>
          <p:cNvPr id="14" name="Row 3 value"/>
          <p:cNvSpPr txBox="1"/>
          <p:nvPr/>
        </p:nvSpPr>
        <p:spPr>
          <a:xfrm>
            <a:off x="8951976" y="3803904"/>
            <a:ext cx="2425903" cy="365760"/>
          </a:xfrm>
          <a:prstGeom prst="rect">
            <a:avLst/>
          </a:prstGeom>
          <a:noFill/>
          <a:ln/>
        </p:spPr>
        <p:txBody>
          <a:bodyPr wrap="square" lIns="0" tIns="0" rIns="0" bIns="0" rtlCol="0" anchor="t">
            <a:normAutofit/>
          </a:bodyPr>
          <a:lstStyle/>
          <a:p>
            <a:pPr marL="0" indent="0" algn="r">
              <a:lnSpc>
                <a:spcPts val="2800"/>
              </a:lnSpc>
              <a:spcAft>
                <a:spcPts val="0"/>
              </a:spcAft>
              <a:buNone/>
            </a:pPr>
            <a:r>
              <a:rPr lang="en-US" sz="2000" b="1" dirty="0">
                <a:solidFill>
                  <a:srgbClr val="1F2D27"/>
                </a:solidFill>
                <a:latin typeface="Nunito" pitchFamily="34" charset="0"/>
                <a:ea typeface="Nunito" pitchFamily="34" charset="-122"/>
                <a:cs typeface="Nunito" pitchFamily="34" charset="-120"/>
              </a:rPr>
              <a:t>~$35M a year</a:t>
            </a:r>
            <a:endParaRPr lang="en-US" sz="2000" dirty="0"/>
          </a:p>
        </p:txBody>
      </p:sp>
      <p:sp>
        <p:nvSpPr>
          <p:cNvPr id="15" name="Rule 3"/>
          <p:cNvSpPr/>
          <p:nvPr/>
        </p:nvSpPr>
        <p:spPr>
          <a:xfrm>
            <a:off x="813816" y="4434840"/>
            <a:ext cx="10564063" cy="0"/>
          </a:xfrm>
          <a:prstGeom prst="line">
            <a:avLst/>
          </a:prstGeom>
          <a:noFill/>
          <a:ln w="12700">
            <a:solidFill>
              <a:srgbClr val="8CC3AC"/>
            </a:solidFill>
            <a:prstDash val="solid"/>
          </a:ln>
        </p:spPr>
      </p:sp>
      <p:sp>
        <p:nvSpPr>
          <p:cNvPr id="16" name="Row 4 stat"/>
          <p:cNvSpPr txBox="1"/>
          <p:nvPr/>
        </p:nvSpPr>
        <p:spPr>
          <a:xfrm>
            <a:off x="813816" y="4572000"/>
            <a:ext cx="219456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~8,400</a:t>
            </a:r>
            <a:endParaRPr lang="en-US" sz="3600" dirty="0"/>
          </a:p>
        </p:txBody>
      </p:sp>
      <p:sp>
        <p:nvSpPr>
          <p:cNvPr id="17" name="Row 4 label"/>
          <p:cNvSpPr txBox="1"/>
          <p:nvPr/>
        </p:nvSpPr>
        <p:spPr>
          <a:xfrm>
            <a:off x="3145536" y="4754880"/>
            <a:ext cx="5669280" cy="36576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circles: our 3-year target, 2% of SAM (SOM)</a:t>
            </a:r>
            <a:endParaRPr lang="en-US" sz="1600" dirty="0"/>
          </a:p>
        </p:txBody>
      </p:sp>
      <p:sp>
        <p:nvSpPr>
          <p:cNvPr id="18" name="Row 4 value"/>
          <p:cNvSpPr txBox="1"/>
          <p:nvPr/>
        </p:nvSpPr>
        <p:spPr>
          <a:xfrm>
            <a:off x="8951976" y="4718304"/>
            <a:ext cx="2425903" cy="365760"/>
          </a:xfrm>
          <a:prstGeom prst="rect">
            <a:avLst/>
          </a:prstGeom>
          <a:noFill/>
          <a:ln/>
        </p:spPr>
        <p:txBody>
          <a:bodyPr wrap="square" lIns="0" tIns="0" rIns="0" bIns="0" rtlCol="0" anchor="t">
            <a:normAutofit/>
          </a:bodyPr>
          <a:lstStyle/>
          <a:p>
            <a:pPr marL="0" indent="0" algn="r">
              <a:lnSpc>
                <a:spcPts val="2800"/>
              </a:lnSpc>
              <a:spcAft>
                <a:spcPts val="0"/>
              </a:spcAft>
              <a:buNone/>
            </a:pPr>
            <a:r>
              <a:rPr lang="en-US" sz="2000" b="1" dirty="0">
                <a:solidFill>
                  <a:srgbClr val="1F2D27"/>
                </a:solidFill>
                <a:latin typeface="Nunito" pitchFamily="34" charset="0"/>
                <a:ea typeface="Nunito" pitchFamily="34" charset="-122"/>
                <a:cs typeface="Nunito" pitchFamily="34" charset="-120"/>
              </a:rPr>
              <a:t>~$700K a year</a:t>
            </a:r>
            <a:endParaRPr lang="en-US" sz="2000" dirty="0"/>
          </a:p>
        </p:txBody>
      </p:sp>
      <p:sp>
        <p:nvSpPr>
          <p:cNvPr id="19" name="Rule 4"/>
          <p:cNvSpPr/>
          <p:nvPr/>
        </p:nvSpPr>
        <p:spPr>
          <a:xfrm>
            <a:off x="813816" y="5349240"/>
            <a:ext cx="10564063" cy="0"/>
          </a:xfrm>
          <a:prstGeom prst="line">
            <a:avLst/>
          </a:prstGeom>
          <a:noFill/>
          <a:ln w="12700">
            <a:solidFill>
              <a:srgbClr val="8CC3AC"/>
            </a:solidFill>
            <a:prstDash val="solid"/>
          </a:ln>
        </p:spPr>
      </p:sp>
      <p:sp>
        <p:nvSpPr>
          <p:cNvPr id="20" name="Source"/>
          <p:cNvSpPr txBox="1"/>
          <p:nvPr/>
        </p:nvSpPr>
        <p:spPr>
          <a:xfrm>
            <a:off x="813816" y="5669280"/>
            <a:ext cx="10564063" cy="411480"/>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dirty="0">
                <a:solidFill>
                  <a:srgbClr val="5B6B63"/>
                </a:solidFill>
                <a:latin typeface="Nunito" pitchFamily="34" charset="0"/>
                <a:ea typeface="Nunito" pitchFamily="34" charset="-122"/>
                <a:cs typeface="Nunito" pitchFamily="34" charset="-120"/>
              </a:rPr>
              <a:t>$84 per circle per year ($7 × 12). Assumes 3 caregivers per circle and that 60% of working caregivers share care with family. Statistics Canada (2022); Canadian Centre for Caregiving Excellence, Caring in Canada (2026).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A4</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How we compare</a:t>
            </a:r>
            <a:endParaRPr lang="en-US" sz="3600" dirty="0"/>
          </a:p>
        </p:txBody>
      </p:sp>
      <p:sp>
        <p:nvSpPr>
          <p:cNvPr id="4" name="Kindred highlight"/>
          <p:cNvSpPr/>
          <p:nvPr/>
        </p:nvSpPr>
        <p:spPr>
          <a:xfrm>
            <a:off x="3831336" y="1645920"/>
            <a:ext cx="2515514" cy="3840480"/>
          </a:xfrm>
          <a:prstGeom prst="roundRect">
            <a:avLst>
              <a:gd name="adj" fmla="val 5228"/>
            </a:avLst>
          </a:prstGeom>
          <a:solidFill>
            <a:srgbClr val="E7F2EC"/>
          </a:solidFill>
          <a:ln/>
        </p:spPr>
      </p:sp>
      <p:sp>
        <p:nvSpPr>
          <p:cNvPr id="5" name="Head 1"/>
          <p:cNvSpPr txBox="1"/>
          <p:nvPr/>
        </p:nvSpPr>
        <p:spPr>
          <a:xfrm>
            <a:off x="4014216" y="1764792"/>
            <a:ext cx="2149754" cy="32004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b="1" dirty="0">
                <a:solidFill>
                  <a:srgbClr val="2F6B57"/>
                </a:solidFill>
                <a:latin typeface="Nunito" pitchFamily="34" charset="0"/>
                <a:ea typeface="Nunito" pitchFamily="34" charset="-122"/>
                <a:cs typeface="Nunito" pitchFamily="34" charset="-120"/>
              </a:rPr>
              <a:t>Kindred</a:t>
            </a:r>
            <a:endParaRPr lang="en-US" sz="1600" dirty="0"/>
          </a:p>
        </p:txBody>
      </p:sp>
      <p:sp>
        <p:nvSpPr>
          <p:cNvPr id="6" name="Head 2"/>
          <p:cNvSpPr txBox="1"/>
          <p:nvPr/>
        </p:nvSpPr>
        <p:spPr>
          <a:xfrm>
            <a:off x="6529730" y="1764792"/>
            <a:ext cx="2149754" cy="32004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b="1" dirty="0">
                <a:solidFill>
                  <a:srgbClr val="1F2D27"/>
                </a:solidFill>
                <a:latin typeface="Nunito" pitchFamily="34" charset="0"/>
                <a:ea typeface="Nunito" pitchFamily="34" charset="-122"/>
                <a:cs typeface="Nunito" pitchFamily="34" charset="-120"/>
              </a:rPr>
              <a:t>CircleCare</a:t>
            </a:r>
            <a:endParaRPr lang="en-US" sz="1600" dirty="0"/>
          </a:p>
        </p:txBody>
      </p:sp>
      <p:sp>
        <p:nvSpPr>
          <p:cNvPr id="7" name="Head 3"/>
          <p:cNvSpPr txBox="1"/>
          <p:nvPr/>
        </p:nvSpPr>
        <p:spPr>
          <a:xfrm>
            <a:off x="9045245" y="1764792"/>
            <a:ext cx="2149754" cy="32004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b="1" dirty="0">
                <a:solidFill>
                  <a:srgbClr val="1F2D27"/>
                </a:solidFill>
                <a:latin typeface="Nunito" pitchFamily="34" charset="0"/>
                <a:ea typeface="Nunito" pitchFamily="34" charset="-122"/>
                <a:cs typeface="Nunito" pitchFamily="34" charset="-120"/>
              </a:rPr>
              <a:t>Family group chat</a:t>
            </a:r>
            <a:endParaRPr lang="en-US" sz="1600" dirty="0"/>
          </a:p>
        </p:txBody>
      </p:sp>
      <p:sp>
        <p:nvSpPr>
          <p:cNvPr id="8" name="Rule head"/>
          <p:cNvSpPr/>
          <p:nvPr/>
        </p:nvSpPr>
        <p:spPr>
          <a:xfrm>
            <a:off x="813816" y="2148840"/>
            <a:ext cx="10564063" cy="0"/>
          </a:xfrm>
          <a:prstGeom prst="line">
            <a:avLst/>
          </a:prstGeom>
          <a:noFill/>
          <a:ln w="12700">
            <a:solidFill>
              <a:srgbClr val="8CC3AC"/>
            </a:solidFill>
            <a:prstDash val="solid"/>
          </a:ln>
        </p:spPr>
      </p:sp>
      <p:sp>
        <p:nvSpPr>
          <p:cNvPr id="9" name="Row 1 label"/>
          <p:cNvSpPr txBox="1"/>
          <p:nvPr/>
        </p:nvSpPr>
        <p:spPr>
          <a:xfrm>
            <a:off x="813816" y="2258568"/>
            <a:ext cx="2834640"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b="1" dirty="0">
                <a:solidFill>
                  <a:srgbClr val="1F2D27"/>
                </a:solidFill>
                <a:latin typeface="Nunito" pitchFamily="34" charset="0"/>
                <a:ea typeface="Nunito" pitchFamily="34" charset="-122"/>
                <a:cs typeface="Nunito" pitchFamily="34" charset="-120"/>
              </a:rPr>
              <a:t>Someone agrees to each task</a:t>
            </a:r>
            <a:endParaRPr lang="en-US" sz="1400" dirty="0"/>
          </a:p>
        </p:txBody>
      </p:sp>
      <p:sp>
        <p:nvSpPr>
          <p:cNvPr id="10" name="Row 1 cell 1"/>
          <p:cNvSpPr txBox="1"/>
          <p:nvPr/>
        </p:nvSpPr>
        <p:spPr>
          <a:xfrm>
            <a:off x="4014216" y="2258568"/>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Yes: claim or accept</a:t>
            </a:r>
            <a:endParaRPr lang="en-US" sz="1400" dirty="0"/>
          </a:p>
        </p:txBody>
      </p:sp>
      <p:sp>
        <p:nvSpPr>
          <p:cNvPr id="11" name="Row 1 cell 2"/>
          <p:cNvSpPr txBox="1"/>
          <p:nvPr/>
        </p:nvSpPr>
        <p:spPr>
          <a:xfrm>
            <a:off x="6529730" y="2258568"/>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A shared task list</a:t>
            </a:r>
            <a:endParaRPr lang="en-US" sz="1400" dirty="0"/>
          </a:p>
        </p:txBody>
      </p:sp>
      <p:sp>
        <p:nvSpPr>
          <p:cNvPr id="12" name="Row 1 cell 3"/>
          <p:cNvSpPr txBox="1"/>
          <p:nvPr/>
        </p:nvSpPr>
        <p:spPr>
          <a:xfrm>
            <a:off x="9045245" y="2258568"/>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No: a thumbs-up isn't a yes</a:t>
            </a:r>
            <a:endParaRPr lang="en-US" sz="1400" dirty="0"/>
          </a:p>
        </p:txBody>
      </p:sp>
      <p:sp>
        <p:nvSpPr>
          <p:cNvPr id="13" name="Rule 1"/>
          <p:cNvSpPr/>
          <p:nvPr/>
        </p:nvSpPr>
        <p:spPr>
          <a:xfrm>
            <a:off x="813816" y="2807208"/>
            <a:ext cx="10564063" cy="0"/>
          </a:xfrm>
          <a:prstGeom prst="line">
            <a:avLst/>
          </a:prstGeom>
          <a:noFill/>
          <a:ln w="12700">
            <a:solidFill>
              <a:srgbClr val="8CC3AC"/>
            </a:solidFill>
            <a:prstDash val="solid"/>
          </a:ln>
        </p:spPr>
      </p:sp>
      <p:sp>
        <p:nvSpPr>
          <p:cNvPr id="14" name="Row 2 label"/>
          <p:cNvSpPr txBox="1"/>
          <p:nvPr/>
        </p:nvSpPr>
        <p:spPr>
          <a:xfrm>
            <a:off x="813816" y="2916936"/>
            <a:ext cx="2834640"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b="1" dirty="0">
                <a:solidFill>
                  <a:srgbClr val="1F2D27"/>
                </a:solidFill>
                <a:latin typeface="Nunito" pitchFamily="34" charset="0"/>
                <a:ea typeface="Nunito" pitchFamily="34" charset="-122"/>
                <a:cs typeface="Nunito" pitchFamily="34" charset="-120"/>
              </a:rPr>
              <a:t>Hand-offs when plans change</a:t>
            </a:r>
            <a:endParaRPr lang="en-US" sz="1400" dirty="0"/>
          </a:p>
        </p:txBody>
      </p:sp>
      <p:sp>
        <p:nvSpPr>
          <p:cNvPr id="15" name="Row 2 cell 1"/>
          <p:cNvSpPr txBox="1"/>
          <p:nvPr/>
        </p:nvSpPr>
        <p:spPr>
          <a:xfrm>
            <a:off x="4014216" y="2916936"/>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Ask for cover in one tap</a:t>
            </a:r>
            <a:endParaRPr lang="en-US" sz="1400" dirty="0"/>
          </a:p>
        </p:txBody>
      </p:sp>
      <p:sp>
        <p:nvSpPr>
          <p:cNvPr id="16" name="Row 2 cell 2"/>
          <p:cNvSpPr txBox="1"/>
          <p:nvPr/>
        </p:nvSpPr>
        <p:spPr>
          <a:xfrm>
            <a:off x="6529730" y="2916936"/>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Not in public materials</a:t>
            </a:r>
            <a:endParaRPr lang="en-US" sz="1400" dirty="0"/>
          </a:p>
        </p:txBody>
      </p:sp>
      <p:sp>
        <p:nvSpPr>
          <p:cNvPr id="17" name="Row 2 cell 3"/>
          <p:cNvSpPr txBox="1"/>
          <p:nvPr/>
        </p:nvSpPr>
        <p:spPr>
          <a:xfrm>
            <a:off x="9045245" y="2916936"/>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Ask again and hope</a:t>
            </a:r>
            <a:endParaRPr lang="en-US" sz="1400" dirty="0"/>
          </a:p>
        </p:txBody>
      </p:sp>
      <p:sp>
        <p:nvSpPr>
          <p:cNvPr id="18" name="Rule 2"/>
          <p:cNvSpPr/>
          <p:nvPr/>
        </p:nvSpPr>
        <p:spPr>
          <a:xfrm>
            <a:off x="813816" y="3465576"/>
            <a:ext cx="10564063" cy="0"/>
          </a:xfrm>
          <a:prstGeom prst="line">
            <a:avLst/>
          </a:prstGeom>
          <a:noFill/>
          <a:ln w="12700">
            <a:solidFill>
              <a:srgbClr val="8CC3AC"/>
            </a:solidFill>
            <a:prstDash val="solid"/>
          </a:ln>
        </p:spPr>
      </p:sp>
      <p:sp>
        <p:nvSpPr>
          <p:cNvPr id="19" name="Row 3 label"/>
          <p:cNvSpPr txBox="1"/>
          <p:nvPr/>
        </p:nvSpPr>
        <p:spPr>
          <a:xfrm>
            <a:off x="813816" y="3575304"/>
            <a:ext cx="2834640"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b="1" dirty="0">
                <a:solidFill>
                  <a:srgbClr val="1F2D27"/>
                </a:solidFill>
                <a:latin typeface="Nunito" pitchFamily="34" charset="0"/>
                <a:ea typeface="Nunito" pitchFamily="34" charset="-122"/>
                <a:cs typeface="Nunito" pitchFamily="34" charset="-120"/>
              </a:rPr>
              <a:t>Works with the family chat</a:t>
            </a:r>
            <a:endParaRPr lang="en-US" sz="1400" dirty="0"/>
          </a:p>
        </p:txBody>
      </p:sp>
      <p:sp>
        <p:nvSpPr>
          <p:cNvPr id="20" name="Row 3 cell 1"/>
          <p:cNvSpPr txBox="1"/>
          <p:nvPr/>
        </p:nvSpPr>
        <p:spPr>
          <a:xfrm>
            <a:off x="4014216" y="3575304"/>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Shares into it</a:t>
            </a:r>
            <a:endParaRPr lang="en-US" sz="1400" dirty="0"/>
          </a:p>
        </p:txBody>
      </p:sp>
      <p:sp>
        <p:nvSpPr>
          <p:cNvPr id="21" name="Row 3 cell 2"/>
          <p:cNvSpPr txBox="1"/>
          <p:nvPr/>
        </p:nvSpPr>
        <p:spPr>
          <a:xfrm>
            <a:off x="6529730" y="3575304"/>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A separate app</a:t>
            </a:r>
            <a:endParaRPr lang="en-US" sz="1400" dirty="0"/>
          </a:p>
        </p:txBody>
      </p:sp>
      <p:sp>
        <p:nvSpPr>
          <p:cNvPr id="22" name="Row 3 cell 3"/>
          <p:cNvSpPr txBox="1"/>
          <p:nvPr/>
        </p:nvSpPr>
        <p:spPr>
          <a:xfrm>
            <a:off x="9045245" y="3575304"/>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It is the chat</a:t>
            </a:r>
            <a:endParaRPr lang="en-US" sz="1400" dirty="0"/>
          </a:p>
        </p:txBody>
      </p:sp>
      <p:sp>
        <p:nvSpPr>
          <p:cNvPr id="23" name="Rule 3"/>
          <p:cNvSpPr/>
          <p:nvPr/>
        </p:nvSpPr>
        <p:spPr>
          <a:xfrm>
            <a:off x="813816" y="4123944"/>
            <a:ext cx="10564063" cy="0"/>
          </a:xfrm>
          <a:prstGeom prst="line">
            <a:avLst/>
          </a:prstGeom>
          <a:noFill/>
          <a:ln w="12700">
            <a:solidFill>
              <a:srgbClr val="8CC3AC"/>
            </a:solidFill>
            <a:prstDash val="solid"/>
          </a:ln>
        </p:spPr>
      </p:sp>
      <p:sp>
        <p:nvSpPr>
          <p:cNvPr id="24" name="Row 4 label"/>
          <p:cNvSpPr txBox="1"/>
          <p:nvPr/>
        </p:nvSpPr>
        <p:spPr>
          <a:xfrm>
            <a:off x="813816" y="4233672"/>
            <a:ext cx="2834640"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b="1" dirty="0">
                <a:solidFill>
                  <a:srgbClr val="1F2D27"/>
                </a:solidFill>
                <a:latin typeface="Nunito" pitchFamily="34" charset="0"/>
                <a:ea typeface="Nunito" pitchFamily="34" charset="-122"/>
                <a:cs typeface="Nunito" pitchFamily="34" charset="-120"/>
              </a:rPr>
              <a:t>Weekly recap</a:t>
            </a:r>
            <a:endParaRPr lang="en-US" sz="1400" dirty="0"/>
          </a:p>
        </p:txBody>
      </p:sp>
      <p:sp>
        <p:nvSpPr>
          <p:cNvPr id="25" name="Row 4 cell 1"/>
          <p:cNvSpPr txBox="1"/>
          <p:nvPr/>
        </p:nvSpPr>
        <p:spPr>
          <a:xfrm>
            <a:off x="4014216" y="4233672"/>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What happened, what's next</a:t>
            </a:r>
            <a:endParaRPr lang="en-US" sz="1400" dirty="0"/>
          </a:p>
        </p:txBody>
      </p:sp>
      <p:sp>
        <p:nvSpPr>
          <p:cNvPr id="26" name="Row 4 cell 2"/>
          <p:cNvSpPr txBox="1"/>
          <p:nvPr/>
        </p:nvSpPr>
        <p:spPr>
          <a:xfrm>
            <a:off x="6529730" y="4233672"/>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Contribution tracking</a:t>
            </a:r>
            <a:endParaRPr lang="en-US" sz="1400" dirty="0"/>
          </a:p>
        </p:txBody>
      </p:sp>
      <p:sp>
        <p:nvSpPr>
          <p:cNvPr id="27" name="Row 4 cell 3"/>
          <p:cNvSpPr txBox="1"/>
          <p:nvPr/>
        </p:nvSpPr>
        <p:spPr>
          <a:xfrm>
            <a:off x="9045245" y="4233672"/>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None</a:t>
            </a:r>
            <a:endParaRPr lang="en-US" sz="1400" dirty="0"/>
          </a:p>
        </p:txBody>
      </p:sp>
      <p:sp>
        <p:nvSpPr>
          <p:cNvPr id="28" name="Rule 4"/>
          <p:cNvSpPr/>
          <p:nvPr/>
        </p:nvSpPr>
        <p:spPr>
          <a:xfrm>
            <a:off x="813816" y="4782312"/>
            <a:ext cx="10564063" cy="0"/>
          </a:xfrm>
          <a:prstGeom prst="line">
            <a:avLst/>
          </a:prstGeom>
          <a:noFill/>
          <a:ln w="12700">
            <a:solidFill>
              <a:srgbClr val="8CC3AC"/>
            </a:solidFill>
            <a:prstDash val="solid"/>
          </a:ln>
        </p:spPr>
      </p:sp>
      <p:sp>
        <p:nvSpPr>
          <p:cNvPr id="29" name="Row 5 label"/>
          <p:cNvSpPr txBox="1"/>
          <p:nvPr/>
        </p:nvSpPr>
        <p:spPr>
          <a:xfrm>
            <a:off x="813816" y="4892040"/>
            <a:ext cx="2834640"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b="1" dirty="0">
                <a:solidFill>
                  <a:srgbClr val="1F2D27"/>
                </a:solidFill>
                <a:latin typeface="Nunito" pitchFamily="34" charset="0"/>
                <a:ea typeface="Nunito" pitchFamily="34" charset="-122"/>
                <a:cs typeface="Nunito" pitchFamily="34" charset="-120"/>
              </a:rPr>
              <a:t>Who pays</a:t>
            </a:r>
            <a:endParaRPr lang="en-US" sz="1400" dirty="0"/>
          </a:p>
        </p:txBody>
      </p:sp>
      <p:sp>
        <p:nvSpPr>
          <p:cNvPr id="30" name="Row 5 cell 1"/>
          <p:cNvSpPr txBox="1"/>
          <p:nvPr/>
        </p:nvSpPr>
        <p:spPr>
          <a:xfrm>
            <a:off x="4014216" y="4892040"/>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Coordinator, $5–7 a month</a:t>
            </a:r>
            <a:endParaRPr lang="en-US" sz="1400" dirty="0"/>
          </a:p>
        </p:txBody>
      </p:sp>
      <p:sp>
        <p:nvSpPr>
          <p:cNvPr id="31" name="Row 5 cell 2"/>
          <p:cNvSpPr txBox="1"/>
          <p:nvPr/>
        </p:nvSpPr>
        <p:spPr>
          <a:xfrm>
            <a:off x="6529730" y="4892040"/>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Free for 1 circle; $6.99 a month premium</a:t>
            </a:r>
            <a:endParaRPr lang="en-US" sz="1400" dirty="0"/>
          </a:p>
        </p:txBody>
      </p:sp>
      <p:sp>
        <p:nvSpPr>
          <p:cNvPr id="32" name="Row 5 cell 3"/>
          <p:cNvSpPr txBox="1"/>
          <p:nvPr/>
        </p:nvSpPr>
        <p:spPr>
          <a:xfrm>
            <a:off x="9045245" y="4892040"/>
            <a:ext cx="2149754" cy="521208"/>
          </a:xfrm>
          <a:prstGeom prst="rect">
            <a:avLst/>
          </a:prstGeom>
          <a:noFill/>
          <a:ln/>
        </p:spPr>
        <p:txBody>
          <a:bodyPr wrap="square" lIns="0" tIns="0" rIns="0" bIns="0" rtlCol="0" anchor="t">
            <a:normAutofit/>
          </a:bodyPr>
          <a:lstStyle/>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Free</a:t>
            </a:r>
            <a:endParaRPr lang="en-US" sz="1400" dirty="0"/>
          </a:p>
        </p:txBody>
      </p:sp>
      <p:sp>
        <p:nvSpPr>
          <p:cNvPr id="33" name="Rule 5"/>
          <p:cNvSpPr/>
          <p:nvPr/>
        </p:nvSpPr>
        <p:spPr>
          <a:xfrm>
            <a:off x="813816" y="5440680"/>
            <a:ext cx="10564063" cy="0"/>
          </a:xfrm>
          <a:prstGeom prst="line">
            <a:avLst/>
          </a:prstGeom>
          <a:noFill/>
          <a:ln w="12700">
            <a:solidFill>
              <a:srgbClr val="8CC3AC"/>
            </a:solidFill>
            <a:prstDash val="solid"/>
          </a:ln>
        </p:spPr>
      </p:sp>
      <p:sp>
        <p:nvSpPr>
          <p:cNvPr id="34" name="Source"/>
          <p:cNvSpPr txBox="1"/>
          <p:nvPr/>
        </p:nvSpPr>
        <p:spPr>
          <a:xfrm>
            <a:off x="813816" y="5669280"/>
            <a:ext cx="10564063" cy="411480"/>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dirty="0">
                <a:solidFill>
                  <a:srgbClr val="5B6B63"/>
                </a:solidFill>
                <a:latin typeface="Nunito" pitchFamily="34" charset="0"/>
                <a:ea typeface="Nunito" pitchFamily="34" charset="-122"/>
                <a:cs typeface="Nunito" pitchFamily="34" charset="-120"/>
              </a:rPr>
              <a:t>CircleCare from its public materials, October 2026 (see docs/competitor-analysis.md). Other care apps such as CaringBridge and Lotsa Helping Hands also ask families to leave their chat.</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A5</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How a sibling joins in</a:t>
            </a:r>
            <a:endParaRPr lang="en-US" sz="3600" dirty="0"/>
          </a:p>
        </p:txBody>
      </p:sp>
      <p:sp>
        <p:nvSpPr>
          <p:cNvPr id="4" name="Step 1 card"/>
          <p:cNvSpPr/>
          <p:nvPr/>
        </p:nvSpPr>
        <p:spPr>
          <a:xfrm>
            <a:off x="813816" y="1691640"/>
            <a:ext cx="2332406" cy="1965960"/>
          </a:xfrm>
          <a:prstGeom prst="roundRect">
            <a:avLst>
              <a:gd name="adj" fmla="val 5228"/>
            </a:avLst>
          </a:prstGeom>
          <a:solidFill>
            <a:srgbClr val="E7F2EC"/>
          </a:solidFill>
          <a:ln/>
        </p:spPr>
      </p:sp>
      <p:sp>
        <p:nvSpPr>
          <p:cNvPr id="5" name="Step 1 text"/>
          <p:cNvSpPr txBox="1"/>
          <p:nvPr/>
        </p:nvSpPr>
        <p:spPr>
          <a:xfrm>
            <a:off x="1042416" y="1874520"/>
            <a:ext cx="1875206" cy="1691640"/>
          </a:xfrm>
          <a:prstGeom prst="rect">
            <a:avLst/>
          </a:prstGeom>
          <a:noFill/>
          <a:ln/>
        </p:spPr>
        <p:txBody>
          <a:bodyPr wrap="square" lIns="0" tIns="0" rIns="0" bIns="0" rtlCol="0" anchor="t">
            <a:normAutofit/>
          </a:bodyPr>
          <a:lstStyle/>
          <a:p>
            <a:pPr marL="0" indent="0" algn="l">
              <a:lnSpc>
                <a:spcPts val="3200"/>
              </a:lnSpc>
              <a:spcAft>
                <a:spcPts val="300"/>
              </a:spcAft>
              <a:buNone/>
            </a:pPr>
            <a:r>
              <a:rPr lang="en-US" sz="2800" b="1" dirty="0">
                <a:solidFill>
                  <a:srgbClr val="2F6B57"/>
                </a:solidFill>
                <a:latin typeface="Nunito" pitchFamily="34" charset="0"/>
                <a:ea typeface="Nunito" pitchFamily="34" charset="-122"/>
                <a:cs typeface="Nunito" pitchFamily="34" charset="-120"/>
              </a:rPr>
              <a:t>1</a:t>
            </a:r>
            <a:endParaRPr lang="en-US" sz="2800" dirty="0"/>
          </a:p>
          <a:p>
            <a:pPr marL="0" indent="0" algn="l">
              <a:lnSpc>
                <a:spcPts val="2240"/>
              </a:lnSpc>
              <a:spcAft>
                <a:spcPts val="300"/>
              </a:spcAft>
              <a:buNone/>
            </a:pPr>
            <a:r>
              <a:rPr lang="en-US" sz="1600" b="1" dirty="0">
                <a:solidFill>
                  <a:srgbClr val="1F2D27"/>
                </a:solidFill>
                <a:latin typeface="Nunito" pitchFamily="34" charset="0"/>
                <a:ea typeface="Nunito" pitchFamily="34" charset="-122"/>
                <a:cs typeface="Nunito" pitchFamily="34" charset="-120"/>
              </a:rPr>
              <a:t>Invite</a:t>
            </a:r>
            <a:endParaRPr lang="en-US" sz="1600" dirty="0"/>
          </a:p>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The coordinator shares one invite link in the family chat.</a:t>
            </a:r>
            <a:endParaRPr lang="en-US" sz="1400" dirty="0"/>
          </a:p>
        </p:txBody>
      </p:sp>
      <p:sp>
        <p:nvSpPr>
          <p:cNvPr id="6" name="Arrow 1"/>
          <p:cNvSpPr/>
          <p:nvPr/>
        </p:nvSpPr>
        <p:spPr>
          <a:xfrm>
            <a:off x="3219374" y="2670048"/>
            <a:ext cx="265176" cy="0"/>
          </a:xfrm>
          <a:prstGeom prst="line">
            <a:avLst/>
          </a:prstGeom>
          <a:noFill/>
          <a:ln w="19050">
            <a:solidFill>
              <a:srgbClr val="2F6B57"/>
            </a:solidFill>
            <a:prstDash val="solid"/>
            <a:tailEnd type="triangle" w="med" len="med"/>
          </a:ln>
        </p:spPr>
      </p:sp>
      <p:sp>
        <p:nvSpPr>
          <p:cNvPr id="7" name="Step 2 card"/>
          <p:cNvSpPr/>
          <p:nvPr/>
        </p:nvSpPr>
        <p:spPr>
          <a:xfrm>
            <a:off x="3557702" y="1691640"/>
            <a:ext cx="2332406" cy="1965960"/>
          </a:xfrm>
          <a:prstGeom prst="roundRect">
            <a:avLst>
              <a:gd name="adj" fmla="val 5228"/>
            </a:avLst>
          </a:prstGeom>
          <a:solidFill>
            <a:srgbClr val="E7F2EC"/>
          </a:solidFill>
          <a:ln/>
        </p:spPr>
      </p:sp>
      <p:sp>
        <p:nvSpPr>
          <p:cNvPr id="8" name="Step 2 text"/>
          <p:cNvSpPr txBox="1"/>
          <p:nvPr/>
        </p:nvSpPr>
        <p:spPr>
          <a:xfrm>
            <a:off x="3786302" y="1874520"/>
            <a:ext cx="1875206" cy="1691640"/>
          </a:xfrm>
          <a:prstGeom prst="rect">
            <a:avLst/>
          </a:prstGeom>
          <a:noFill/>
          <a:ln/>
        </p:spPr>
        <p:txBody>
          <a:bodyPr wrap="square" lIns="0" tIns="0" rIns="0" bIns="0" rtlCol="0" anchor="t">
            <a:normAutofit/>
          </a:bodyPr>
          <a:lstStyle/>
          <a:p>
            <a:pPr marL="0" indent="0" algn="l">
              <a:lnSpc>
                <a:spcPts val="3200"/>
              </a:lnSpc>
              <a:spcAft>
                <a:spcPts val="300"/>
              </a:spcAft>
              <a:buNone/>
            </a:pPr>
            <a:r>
              <a:rPr lang="en-US" sz="2800" b="1" dirty="0">
                <a:solidFill>
                  <a:srgbClr val="2F6B57"/>
                </a:solidFill>
                <a:latin typeface="Nunito" pitchFamily="34" charset="0"/>
                <a:ea typeface="Nunito" pitchFamily="34" charset="-122"/>
                <a:cs typeface="Nunito" pitchFamily="34" charset="-120"/>
              </a:rPr>
              <a:t>2</a:t>
            </a:r>
            <a:endParaRPr lang="en-US" sz="2800" dirty="0"/>
          </a:p>
          <a:p>
            <a:pPr marL="0" indent="0" algn="l">
              <a:lnSpc>
                <a:spcPts val="2240"/>
              </a:lnSpc>
              <a:spcAft>
                <a:spcPts val="300"/>
              </a:spcAft>
              <a:buNone/>
            </a:pPr>
            <a:r>
              <a:rPr lang="en-US" sz="1600" b="1" dirty="0">
                <a:solidFill>
                  <a:srgbClr val="1F2D27"/>
                </a:solidFill>
                <a:latin typeface="Nunito" pitchFamily="34" charset="0"/>
                <a:ea typeface="Nunito" pitchFamily="34" charset="-122"/>
                <a:cs typeface="Nunito" pitchFamily="34" charset="-120"/>
              </a:rPr>
              <a:t>Join</a:t>
            </a:r>
            <a:endParaRPr lang="en-US" sz="1600" dirty="0"/>
          </a:p>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Relatives sign in with Google or an email code, and join free.</a:t>
            </a:r>
            <a:endParaRPr lang="en-US" sz="1400" dirty="0"/>
          </a:p>
        </p:txBody>
      </p:sp>
      <p:sp>
        <p:nvSpPr>
          <p:cNvPr id="9" name="Arrow 2"/>
          <p:cNvSpPr/>
          <p:nvPr/>
        </p:nvSpPr>
        <p:spPr>
          <a:xfrm>
            <a:off x="5963260" y="2670048"/>
            <a:ext cx="265176" cy="0"/>
          </a:xfrm>
          <a:prstGeom prst="line">
            <a:avLst/>
          </a:prstGeom>
          <a:noFill/>
          <a:ln w="19050">
            <a:solidFill>
              <a:srgbClr val="2F6B57"/>
            </a:solidFill>
            <a:prstDash val="solid"/>
            <a:tailEnd type="triangle" w="med" len="med"/>
          </a:ln>
        </p:spPr>
      </p:sp>
      <p:sp>
        <p:nvSpPr>
          <p:cNvPr id="10" name="Step 3 card"/>
          <p:cNvSpPr/>
          <p:nvPr/>
        </p:nvSpPr>
        <p:spPr>
          <a:xfrm>
            <a:off x="6301588" y="1691640"/>
            <a:ext cx="2332406" cy="1965960"/>
          </a:xfrm>
          <a:prstGeom prst="roundRect">
            <a:avLst>
              <a:gd name="adj" fmla="val 5228"/>
            </a:avLst>
          </a:prstGeom>
          <a:solidFill>
            <a:srgbClr val="E7F2EC"/>
          </a:solidFill>
          <a:ln/>
        </p:spPr>
      </p:sp>
      <p:sp>
        <p:nvSpPr>
          <p:cNvPr id="11" name="Step 3 text"/>
          <p:cNvSpPr txBox="1"/>
          <p:nvPr/>
        </p:nvSpPr>
        <p:spPr>
          <a:xfrm>
            <a:off x="6530188" y="1874520"/>
            <a:ext cx="1875206" cy="1691640"/>
          </a:xfrm>
          <a:prstGeom prst="rect">
            <a:avLst/>
          </a:prstGeom>
          <a:noFill/>
          <a:ln/>
        </p:spPr>
        <p:txBody>
          <a:bodyPr wrap="square" lIns="0" tIns="0" rIns="0" bIns="0" rtlCol="0" anchor="t">
            <a:normAutofit/>
          </a:bodyPr>
          <a:lstStyle/>
          <a:p>
            <a:pPr marL="0" indent="0" algn="l">
              <a:lnSpc>
                <a:spcPts val="3200"/>
              </a:lnSpc>
              <a:spcAft>
                <a:spcPts val="300"/>
              </a:spcAft>
              <a:buNone/>
            </a:pPr>
            <a:r>
              <a:rPr lang="en-US" sz="2800" b="1" dirty="0">
                <a:solidFill>
                  <a:srgbClr val="2F6B57"/>
                </a:solidFill>
                <a:latin typeface="Nunito" pitchFamily="34" charset="0"/>
                <a:ea typeface="Nunito" pitchFamily="34" charset="-122"/>
                <a:cs typeface="Nunito" pitchFamily="34" charset="-120"/>
              </a:rPr>
              <a:t>3</a:t>
            </a:r>
            <a:endParaRPr lang="en-US" sz="2800" dirty="0"/>
          </a:p>
          <a:p>
            <a:pPr marL="0" indent="0" algn="l">
              <a:lnSpc>
                <a:spcPts val="2240"/>
              </a:lnSpc>
              <a:spcAft>
                <a:spcPts val="300"/>
              </a:spcAft>
              <a:buNone/>
            </a:pPr>
            <a:r>
              <a:rPr lang="en-US" sz="1600" b="1" dirty="0">
                <a:solidFill>
                  <a:srgbClr val="1F2D27"/>
                </a:solidFill>
                <a:latin typeface="Nunito" pitchFamily="34" charset="0"/>
                <a:ea typeface="Nunito" pitchFamily="34" charset="-122"/>
                <a:cs typeface="Nunito" pitchFamily="34" charset="-120"/>
              </a:rPr>
              <a:t>Ask</a:t>
            </a:r>
            <a:endParaRPr lang="en-US" sz="1600" dirty="0"/>
          </a:p>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Each request is shared back into the chat.</a:t>
            </a:r>
            <a:endParaRPr lang="en-US" sz="1400" dirty="0"/>
          </a:p>
        </p:txBody>
      </p:sp>
      <p:sp>
        <p:nvSpPr>
          <p:cNvPr id="12" name="Arrow 3"/>
          <p:cNvSpPr/>
          <p:nvPr/>
        </p:nvSpPr>
        <p:spPr>
          <a:xfrm>
            <a:off x="8707145" y="2670048"/>
            <a:ext cx="265176" cy="0"/>
          </a:xfrm>
          <a:prstGeom prst="line">
            <a:avLst/>
          </a:prstGeom>
          <a:noFill/>
          <a:ln w="19050">
            <a:solidFill>
              <a:srgbClr val="2F6B57"/>
            </a:solidFill>
            <a:prstDash val="solid"/>
            <a:tailEnd type="triangle" w="med" len="med"/>
          </a:ln>
        </p:spPr>
      </p:sp>
      <p:sp>
        <p:nvSpPr>
          <p:cNvPr id="13" name="Step 4 card"/>
          <p:cNvSpPr/>
          <p:nvPr/>
        </p:nvSpPr>
        <p:spPr>
          <a:xfrm>
            <a:off x="9045473" y="1691640"/>
            <a:ext cx="2332406" cy="1965960"/>
          </a:xfrm>
          <a:prstGeom prst="roundRect">
            <a:avLst>
              <a:gd name="adj" fmla="val 5228"/>
            </a:avLst>
          </a:prstGeom>
          <a:solidFill>
            <a:srgbClr val="E7F2EC"/>
          </a:solidFill>
          <a:ln/>
        </p:spPr>
      </p:sp>
      <p:sp>
        <p:nvSpPr>
          <p:cNvPr id="14" name="Step 4 text"/>
          <p:cNvSpPr txBox="1"/>
          <p:nvPr/>
        </p:nvSpPr>
        <p:spPr>
          <a:xfrm>
            <a:off x="9274073" y="1874520"/>
            <a:ext cx="1875206" cy="1691640"/>
          </a:xfrm>
          <a:prstGeom prst="rect">
            <a:avLst/>
          </a:prstGeom>
          <a:noFill/>
          <a:ln/>
        </p:spPr>
        <p:txBody>
          <a:bodyPr wrap="square" lIns="0" tIns="0" rIns="0" bIns="0" rtlCol="0" anchor="t">
            <a:normAutofit/>
          </a:bodyPr>
          <a:lstStyle/>
          <a:p>
            <a:pPr marL="0" indent="0" algn="l">
              <a:lnSpc>
                <a:spcPts val="3200"/>
              </a:lnSpc>
              <a:spcAft>
                <a:spcPts val="300"/>
              </a:spcAft>
              <a:buNone/>
            </a:pPr>
            <a:r>
              <a:rPr lang="en-US" sz="2800" b="1" dirty="0">
                <a:solidFill>
                  <a:srgbClr val="2F6B57"/>
                </a:solidFill>
                <a:latin typeface="Nunito" pitchFamily="34" charset="0"/>
                <a:ea typeface="Nunito" pitchFamily="34" charset="-122"/>
                <a:cs typeface="Nunito" pitchFamily="34" charset="-120"/>
              </a:rPr>
              <a:t>4</a:t>
            </a:r>
            <a:endParaRPr lang="en-US" sz="2800" dirty="0"/>
          </a:p>
          <a:p>
            <a:pPr marL="0" indent="0" algn="l">
              <a:lnSpc>
                <a:spcPts val="2240"/>
              </a:lnSpc>
              <a:spcAft>
                <a:spcPts val="300"/>
              </a:spcAft>
              <a:buNone/>
            </a:pPr>
            <a:r>
              <a:rPr lang="en-US" sz="1600" b="1" dirty="0">
                <a:solidFill>
                  <a:srgbClr val="1F2D27"/>
                </a:solidFill>
                <a:latin typeface="Nunito" pitchFamily="34" charset="0"/>
                <a:ea typeface="Nunito" pitchFamily="34" charset="-122"/>
                <a:cs typeface="Nunito" pitchFamily="34" charset="-120"/>
              </a:rPr>
              <a:t>Accept</a:t>
            </a:r>
            <a:endParaRPr lang="en-US" sz="1600" dirty="0"/>
          </a:p>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One tap. The coordinator sees who said yes.</a:t>
            </a:r>
            <a:endParaRPr lang="en-US" sz="1400" dirty="0"/>
          </a:p>
        </p:txBody>
      </p:sp>
      <p:sp>
        <p:nvSpPr>
          <p:cNvPr id="15" name="Target rule 0"/>
          <p:cNvSpPr/>
          <p:nvPr/>
        </p:nvSpPr>
        <p:spPr>
          <a:xfrm>
            <a:off x="813816" y="3931920"/>
            <a:ext cx="10564063" cy="0"/>
          </a:xfrm>
          <a:prstGeom prst="line">
            <a:avLst/>
          </a:prstGeom>
          <a:noFill/>
          <a:ln w="12700">
            <a:solidFill>
              <a:srgbClr val="8CC3AC"/>
            </a:solidFill>
            <a:prstDash val="solid"/>
          </a:ln>
        </p:spPr>
      </p:sp>
      <p:sp>
        <p:nvSpPr>
          <p:cNvPr id="16" name="Target 1 stat"/>
          <p:cNvSpPr txBox="1"/>
          <p:nvPr/>
        </p:nvSpPr>
        <p:spPr>
          <a:xfrm>
            <a:off x="813816" y="4069080"/>
            <a:ext cx="173736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≥60%</a:t>
            </a:r>
            <a:endParaRPr lang="en-US" sz="3600" dirty="0"/>
          </a:p>
        </p:txBody>
      </p:sp>
      <p:sp>
        <p:nvSpPr>
          <p:cNvPr id="17" name="Target 1 label"/>
          <p:cNvSpPr txBox="1"/>
          <p:nvPr/>
        </p:nvSpPr>
        <p:spPr>
          <a:xfrm>
            <a:off x="2688336" y="4178808"/>
            <a:ext cx="8689543" cy="50292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of circles with 3+ members in their first week (our target)</a:t>
            </a:r>
            <a:endParaRPr lang="en-US" sz="1600" dirty="0"/>
          </a:p>
        </p:txBody>
      </p:sp>
      <p:sp>
        <p:nvSpPr>
          <p:cNvPr id="18" name="Target rule 1"/>
          <p:cNvSpPr/>
          <p:nvPr/>
        </p:nvSpPr>
        <p:spPr>
          <a:xfrm>
            <a:off x="813816" y="4709160"/>
            <a:ext cx="10564063" cy="0"/>
          </a:xfrm>
          <a:prstGeom prst="line">
            <a:avLst/>
          </a:prstGeom>
          <a:noFill/>
          <a:ln w="12700">
            <a:solidFill>
              <a:srgbClr val="8CC3AC"/>
            </a:solidFill>
            <a:prstDash val="solid"/>
          </a:ln>
        </p:spPr>
      </p:sp>
      <p:sp>
        <p:nvSpPr>
          <p:cNvPr id="19" name="Target 2 stat"/>
          <p:cNvSpPr txBox="1"/>
          <p:nvPr/>
        </p:nvSpPr>
        <p:spPr>
          <a:xfrm>
            <a:off x="813816" y="4846320"/>
            <a:ext cx="1737360" cy="667512"/>
          </a:xfrm>
          <a:prstGeom prst="rect">
            <a:avLst/>
          </a:prstGeom>
          <a:noFill/>
          <a:ln/>
        </p:spPr>
        <p:txBody>
          <a:bodyPr wrap="square" lIns="0" tIns="0" rIns="0" bIns="0" rtlCol="0" anchor="t">
            <a:normAutofit/>
          </a:bodyPr>
          <a:lstStyle/>
          <a:p>
            <a:pPr marL="0" indent="0" algn="l">
              <a:lnSpc>
                <a:spcPts val="5040"/>
              </a:lnSpc>
              <a:spcAft>
                <a:spcPts val="0"/>
              </a:spcAft>
              <a:buNone/>
            </a:pPr>
            <a:r>
              <a:rPr lang="en-US" sz="3600" b="1" dirty="0">
                <a:solidFill>
                  <a:srgbClr val="2F6B57"/>
                </a:solidFill>
                <a:latin typeface="Nunito" pitchFamily="34" charset="0"/>
                <a:ea typeface="Nunito" pitchFamily="34" charset="-122"/>
                <a:cs typeface="Nunito" pitchFamily="34" charset="-120"/>
              </a:rPr>
              <a:t>≥40%</a:t>
            </a:r>
            <a:endParaRPr lang="en-US" sz="3600" dirty="0"/>
          </a:p>
        </p:txBody>
      </p:sp>
      <p:sp>
        <p:nvSpPr>
          <p:cNvPr id="20" name="Target 2 label"/>
          <p:cNvSpPr txBox="1"/>
          <p:nvPr/>
        </p:nvSpPr>
        <p:spPr>
          <a:xfrm>
            <a:off x="2688336" y="4956048"/>
            <a:ext cx="8689543" cy="502920"/>
          </a:xfrm>
          <a:prstGeom prst="rect">
            <a:avLst/>
          </a:prstGeom>
          <a:noFill/>
          <a:ln/>
        </p:spPr>
        <p:txBody>
          <a:bodyPr wrap="square" lIns="0" tIns="0" rIns="0" bIns="0" rtlCol="0" anchor="t">
            <a:normAutofit/>
          </a:bodyPr>
          <a:lstStyle/>
          <a:p>
            <a:pPr marL="0" indent="0" algn="l">
              <a:lnSpc>
                <a:spcPts val="2240"/>
              </a:lnSpc>
              <a:spcAft>
                <a:spcPts val="0"/>
              </a:spcAft>
              <a:buNone/>
            </a:pPr>
            <a:r>
              <a:rPr lang="en-US" sz="1600" dirty="0">
                <a:solidFill>
                  <a:srgbClr val="3D4D46"/>
                </a:solidFill>
                <a:latin typeface="Nunito" pitchFamily="34" charset="0"/>
                <a:ea typeface="Nunito" pitchFamily="34" charset="-122"/>
                <a:cs typeface="Nunito" pitchFamily="34" charset="-120"/>
              </a:rPr>
              <a:t>of tasks completed by someone other than the coordinator (our target)</a:t>
            </a:r>
            <a:endParaRPr lang="en-US" sz="1600" dirty="0"/>
          </a:p>
        </p:txBody>
      </p:sp>
      <p:sp>
        <p:nvSpPr>
          <p:cNvPr id="21" name="Target rule 2"/>
          <p:cNvSpPr/>
          <p:nvPr/>
        </p:nvSpPr>
        <p:spPr>
          <a:xfrm>
            <a:off x="813816" y="5486400"/>
            <a:ext cx="10564063" cy="0"/>
          </a:xfrm>
          <a:prstGeom prst="line">
            <a:avLst/>
          </a:prstGeom>
          <a:noFill/>
          <a:ln w="12700">
            <a:solidFill>
              <a:srgbClr val="8CC3AC"/>
            </a:solidFill>
            <a:prstDash val="solid"/>
          </a:ln>
        </p:spPr>
      </p:sp>
      <p:sp>
        <p:nvSpPr>
          <p:cNvPr id="22" name="Source"/>
          <p:cNvSpPr txBox="1"/>
          <p:nvPr/>
        </p:nvSpPr>
        <p:spPr>
          <a:xfrm>
            <a:off x="813816" y="5806440"/>
            <a:ext cx="10564063" cy="411480"/>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dirty="0">
                <a:solidFill>
                  <a:srgbClr val="5B6B63"/>
                </a:solidFill>
                <a:latin typeface="Nunito" pitchFamily="34" charset="0"/>
                <a:ea typeface="Nunito" pitchFamily="34" charset="-122"/>
                <a:cs typeface="Nunito" pitchFamily="34" charset="-120"/>
              </a:rPr>
              <a:t>23% of caregivers would rather use text or email than download an app, so helpers mostly live in the chat. Caregiver Action Network, Caregiver Tech Insights Survey 2026 (272 US family caregivers).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A6</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Privacy, security and AI</a:t>
            </a:r>
            <a:endParaRPr lang="en-US" sz="3600" dirty="0"/>
          </a:p>
        </p:txBody>
      </p:sp>
      <p:sp>
        <p:nvSpPr>
          <p:cNvPr id="4" name="Card 1 card"/>
          <p:cNvSpPr/>
          <p:nvPr/>
        </p:nvSpPr>
        <p:spPr>
          <a:xfrm>
            <a:off x="813816" y="1691640"/>
            <a:ext cx="3338474" cy="3246120"/>
          </a:xfrm>
          <a:prstGeom prst="roundRect">
            <a:avLst>
              <a:gd name="adj" fmla="val 5228"/>
            </a:avLst>
          </a:prstGeom>
          <a:solidFill>
            <a:srgbClr val="E7F2EC"/>
          </a:solidFill>
          <a:ln/>
        </p:spPr>
      </p:sp>
      <p:sp>
        <p:nvSpPr>
          <p:cNvPr id="5" name="Card 1 text"/>
          <p:cNvSpPr txBox="1"/>
          <p:nvPr/>
        </p:nvSpPr>
        <p:spPr>
          <a:xfrm>
            <a:off x="1088136" y="1965960"/>
            <a:ext cx="2789834" cy="278892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Where data lives</a:t>
            </a:r>
            <a:endParaRPr lang="en-US" sz="20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In Canada: Supabase's Canada (Central) region</a:t>
            </a:r>
            <a:endParaRPr lang="en-US" sz="15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Each family walled off by database rules</a:t>
            </a:r>
            <a:endParaRPr lang="en-US" sz="15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Export or delete your account any time</a:t>
            </a:r>
            <a:endParaRPr lang="en-US" sz="1500" dirty="0"/>
          </a:p>
        </p:txBody>
      </p:sp>
      <p:sp>
        <p:nvSpPr>
          <p:cNvPr id="6" name="Card 2 card"/>
          <p:cNvSpPr/>
          <p:nvPr/>
        </p:nvSpPr>
        <p:spPr>
          <a:xfrm>
            <a:off x="4426610" y="1691640"/>
            <a:ext cx="3338474" cy="3246120"/>
          </a:xfrm>
          <a:prstGeom prst="roundRect">
            <a:avLst>
              <a:gd name="adj" fmla="val 5228"/>
            </a:avLst>
          </a:prstGeom>
          <a:solidFill>
            <a:srgbClr val="E7F2EC"/>
          </a:solidFill>
          <a:ln/>
        </p:spPr>
      </p:sp>
      <p:sp>
        <p:nvSpPr>
          <p:cNvPr id="7" name="Card 2 text"/>
          <p:cNvSpPr txBox="1"/>
          <p:nvPr/>
        </p:nvSpPr>
        <p:spPr>
          <a:xfrm>
            <a:off x="4700930" y="1965960"/>
            <a:ext cx="2789834" cy="278892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1F2D27"/>
                </a:solidFill>
                <a:latin typeface="Nunito" pitchFamily="34" charset="0"/>
                <a:ea typeface="Nunito" pitchFamily="34" charset="-122"/>
                <a:cs typeface="Nunito" pitchFamily="34" charset="-120"/>
              </a:rPr>
              <a:t>What we don't do</a:t>
            </a:r>
            <a:endParaRPr lang="en-US" sz="20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Read calendar events: we only ask free or busy</a:t>
            </a:r>
            <a:endParaRPr lang="en-US" sz="15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Send care information to AI services</a:t>
            </a:r>
            <a:endParaRPr lang="en-US" sz="15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Give medical advice</a:t>
            </a:r>
            <a:endParaRPr lang="en-US" sz="1500" dirty="0"/>
          </a:p>
        </p:txBody>
      </p:sp>
      <p:sp>
        <p:nvSpPr>
          <p:cNvPr id="8" name="Card 3 card"/>
          <p:cNvSpPr/>
          <p:nvPr/>
        </p:nvSpPr>
        <p:spPr>
          <a:xfrm>
            <a:off x="8039405" y="1691640"/>
            <a:ext cx="3338474" cy="3246120"/>
          </a:xfrm>
          <a:prstGeom prst="roundRect">
            <a:avLst>
              <a:gd name="adj" fmla="val 5228"/>
            </a:avLst>
          </a:prstGeom>
          <a:solidFill>
            <a:srgbClr val="E7F2EC"/>
          </a:solidFill>
          <a:ln/>
        </p:spPr>
      </p:sp>
      <p:sp>
        <p:nvSpPr>
          <p:cNvPr id="9" name="Card 3 text"/>
          <p:cNvSpPr txBox="1"/>
          <p:nvPr/>
        </p:nvSpPr>
        <p:spPr>
          <a:xfrm>
            <a:off x="8313725" y="1965960"/>
            <a:ext cx="2789834" cy="278892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1F2D27"/>
                </a:solidFill>
                <a:latin typeface="Nunito" pitchFamily="34" charset="0"/>
                <a:ea typeface="Nunito" pitchFamily="34" charset="-122"/>
                <a:cs typeface="Nunito" pitchFamily="34" charset="-120"/>
              </a:rPr>
              <a:t>AI: today and later</a:t>
            </a:r>
            <a:endParaRPr lang="en-US" sz="20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Today: the weekly summary is built from templates, with no AI</a:t>
            </a:r>
            <a:endParaRPr lang="en-US" sz="15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Later: opt-in AI summaries, with consent and sources shown</a:t>
            </a:r>
            <a:endParaRPr lang="en-US" sz="1500" dirty="0"/>
          </a:p>
          <a:p>
            <a:pPr marL="228600" indent="-228600" algn="l">
              <a:lnSpc>
                <a:spcPts val="2100"/>
              </a:lnSpc>
              <a:spcAft>
                <a:spcPts val="700"/>
              </a:spcAft>
              <a:buFont typeface="Arial"/>
              <a:buChar char="•"/>
            </a:pPr>
            <a:r>
              <a:rPr lang="en-US" sz="1500" dirty="0">
                <a:solidFill>
                  <a:srgbClr val="3D4D46"/>
                </a:solidFill>
                <a:latin typeface="Nunito" pitchFamily="34" charset="0"/>
                <a:ea typeface="Nunito" pitchFamily="34" charset="-122"/>
                <a:cs typeface="Nunito" pitchFamily="34" charset="-120"/>
              </a:rPr>
              <a:t>59% of caregivers already use AI for caregiving (US survey)</a:t>
            </a:r>
            <a:endParaRPr lang="en-US" sz="1500" dirty="0"/>
          </a:p>
        </p:txBody>
      </p:sp>
      <p:sp>
        <p:nvSpPr>
          <p:cNvPr id="10" name="Source"/>
          <p:cNvSpPr txBox="1"/>
          <p:nvPr/>
        </p:nvSpPr>
        <p:spPr>
          <a:xfrm>
            <a:off x="813816" y="5212080"/>
            <a:ext cx="10564063" cy="411480"/>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dirty="0">
                <a:solidFill>
                  <a:srgbClr val="5B6B63"/>
                </a:solidFill>
                <a:latin typeface="Nunito" pitchFamily="34" charset="0"/>
                <a:ea typeface="Nunito" pitchFamily="34" charset="-122"/>
                <a:cs typeface="Nunito" pitchFamily="34" charset="-120"/>
              </a:rPr>
              <a:t>Before real families join: a plain-language privacy policy and a PIPEDA review. AI figure: Caregiver Action Network, Caregiver Tech Insights Survey 2026 (272 US family caregivers).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A7</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How it's built</a:t>
            </a:r>
            <a:endParaRPr lang="en-US" sz="3600" dirty="0"/>
          </a:p>
        </p:txBody>
      </p:sp>
      <p:sp>
        <p:nvSpPr>
          <p:cNvPr id="4" name="Phone box"/>
          <p:cNvSpPr/>
          <p:nvPr/>
        </p:nvSpPr>
        <p:spPr>
          <a:xfrm>
            <a:off x="813816" y="1691640"/>
            <a:ext cx="2743200" cy="2103120"/>
          </a:xfrm>
          <a:prstGeom prst="roundRect">
            <a:avLst>
              <a:gd name="adj" fmla="val 5228"/>
            </a:avLst>
          </a:prstGeom>
          <a:solidFill>
            <a:srgbClr val="E7F2EC"/>
          </a:solidFill>
          <a:ln/>
        </p:spPr>
      </p:sp>
      <p:sp>
        <p:nvSpPr>
          <p:cNvPr id="5" name="Phone text"/>
          <p:cNvSpPr txBox="1"/>
          <p:nvPr/>
        </p:nvSpPr>
        <p:spPr>
          <a:xfrm>
            <a:off x="1042416" y="1874520"/>
            <a:ext cx="2286000" cy="1828800"/>
          </a:xfrm>
          <a:prstGeom prst="rect">
            <a:avLst/>
          </a:prstGeom>
          <a:noFill/>
          <a:ln/>
        </p:spPr>
        <p:txBody>
          <a:bodyPr wrap="square" lIns="0" tIns="0" rIns="0" bIns="0" rtlCol="0" anchor="t">
            <a:normAutofit/>
          </a:bodyPr>
          <a:lstStyle/>
          <a:p>
            <a:pPr marL="0" indent="0" algn="l">
              <a:lnSpc>
                <a:spcPts val="2240"/>
              </a:lnSpc>
              <a:spcAft>
                <a:spcPts val="500"/>
              </a:spcAft>
              <a:buNone/>
            </a:pPr>
            <a:r>
              <a:rPr lang="en-US" sz="1600" b="1" dirty="0">
                <a:solidFill>
                  <a:srgbClr val="1F2D27"/>
                </a:solidFill>
                <a:latin typeface="Nunito" pitchFamily="34" charset="0"/>
                <a:ea typeface="Nunito" pitchFamily="34" charset="-122"/>
                <a:cs typeface="Nunito" pitchFamily="34" charset="-120"/>
              </a:rPr>
              <a:t>On every phone</a:t>
            </a:r>
            <a:endParaRPr lang="en-US" sz="1600" dirty="0"/>
          </a:p>
          <a:p>
            <a:pPr marL="0" indent="0" algn="l">
              <a:lnSpc>
                <a:spcPts val="1960"/>
              </a:lnSpc>
              <a:spcAft>
                <a:spcPts val="0"/>
              </a:spcAft>
              <a:buNone/>
            </a:pPr>
            <a:r>
              <a:rPr lang="en-US" sz="1400" dirty="0">
                <a:solidFill>
                  <a:srgbClr val="3D4D46"/>
                </a:solidFill>
                <a:latin typeface="Nunito" pitchFamily="34" charset="0"/>
                <a:ea typeface="Nunito" pitchFamily="34" charset="-122"/>
                <a:cs typeface="Nunito" pitchFamily="34" charset="-120"/>
              </a:rPr>
              <a:t>Kindred web app (React PWA), installed to the Home Screen and hosted on Vercel</a:t>
            </a:r>
            <a:endParaRPr lang="en-US" sz="1400" dirty="0"/>
          </a:p>
        </p:txBody>
      </p:sp>
      <p:sp>
        <p:nvSpPr>
          <p:cNvPr id="6" name="Backend box"/>
          <p:cNvSpPr/>
          <p:nvPr/>
        </p:nvSpPr>
        <p:spPr>
          <a:xfrm>
            <a:off x="4288536" y="1691640"/>
            <a:ext cx="3657600" cy="2103120"/>
          </a:xfrm>
          <a:prstGeom prst="roundRect">
            <a:avLst>
              <a:gd name="adj" fmla="val 5228"/>
            </a:avLst>
          </a:prstGeom>
          <a:solidFill>
            <a:srgbClr val="E7F2EC"/>
          </a:solidFill>
          <a:ln/>
        </p:spPr>
      </p:sp>
      <p:sp>
        <p:nvSpPr>
          <p:cNvPr id="7" name="Backend text"/>
          <p:cNvSpPr txBox="1"/>
          <p:nvPr/>
        </p:nvSpPr>
        <p:spPr>
          <a:xfrm>
            <a:off x="4517136" y="1874520"/>
            <a:ext cx="3200400" cy="1828800"/>
          </a:xfrm>
          <a:prstGeom prst="rect">
            <a:avLst/>
          </a:prstGeom>
          <a:noFill/>
          <a:ln/>
        </p:spPr>
        <p:txBody>
          <a:bodyPr wrap="square" lIns="0" tIns="0" rIns="0" bIns="0" rtlCol="0" anchor="t">
            <a:normAutofit/>
          </a:bodyPr>
          <a:lstStyle/>
          <a:p>
            <a:pPr marL="0" indent="0" algn="l">
              <a:lnSpc>
                <a:spcPts val="2240"/>
              </a:lnSpc>
              <a:spcAft>
                <a:spcPts val="500"/>
              </a:spcAft>
              <a:buNone/>
            </a:pPr>
            <a:r>
              <a:rPr lang="en-US" sz="1600" b="1" dirty="0">
                <a:solidFill>
                  <a:srgbClr val="1F2D27"/>
                </a:solidFill>
                <a:latin typeface="Nunito" pitchFamily="34" charset="0"/>
                <a:ea typeface="Nunito" pitchFamily="34" charset="-122"/>
                <a:cs typeface="Nunito" pitchFamily="34" charset="-120"/>
              </a:rPr>
              <a:t>Supabase, Canada (Central)</a:t>
            </a:r>
            <a:endParaRPr lang="en-US" sz="1600" dirty="0"/>
          </a:p>
          <a:p>
            <a:pPr marL="228600" indent="-228600" algn="l">
              <a:lnSpc>
                <a:spcPts val="1960"/>
              </a:lnSpc>
              <a:spcAft>
                <a:spcPts val="300"/>
              </a:spcAft>
              <a:buFont typeface="Arial"/>
              <a:buChar char="•"/>
            </a:pPr>
            <a:r>
              <a:rPr lang="en-US" sz="1400" dirty="0">
                <a:solidFill>
                  <a:srgbClr val="3D4D46"/>
                </a:solidFill>
                <a:latin typeface="Nunito" pitchFamily="34" charset="0"/>
                <a:ea typeface="Nunito" pitchFamily="34" charset="-122"/>
                <a:cs typeface="Nunito" pitchFamily="34" charset="-120"/>
              </a:rPr>
              <a:t>Postgres with row-level security</a:t>
            </a:r>
            <a:endParaRPr lang="en-US" sz="1400" dirty="0"/>
          </a:p>
          <a:p>
            <a:pPr marL="228600" indent="-228600" algn="l">
              <a:lnSpc>
                <a:spcPts val="1960"/>
              </a:lnSpc>
              <a:spcAft>
                <a:spcPts val="300"/>
              </a:spcAft>
              <a:buFont typeface="Arial"/>
              <a:buChar char="•"/>
            </a:pPr>
            <a:r>
              <a:rPr lang="en-US" sz="1400" dirty="0">
                <a:solidFill>
                  <a:srgbClr val="3D4D46"/>
                </a:solidFill>
                <a:latin typeface="Nunito" pitchFamily="34" charset="0"/>
                <a:ea typeface="Nunito" pitchFamily="34" charset="-122"/>
                <a:cs typeface="Nunito" pitchFamily="34" charset="-120"/>
              </a:rPr>
              <a:t>Every change goes through a database function</a:t>
            </a:r>
            <a:endParaRPr lang="en-US" sz="1400" dirty="0"/>
          </a:p>
          <a:p>
            <a:pPr marL="228600" indent="-228600" algn="l">
              <a:lnSpc>
                <a:spcPts val="1960"/>
              </a:lnSpc>
              <a:spcAft>
                <a:spcPts val="300"/>
              </a:spcAft>
              <a:buFont typeface="Arial"/>
              <a:buChar char="•"/>
            </a:pPr>
            <a:r>
              <a:rPr lang="en-US" sz="1400" dirty="0">
                <a:solidFill>
                  <a:srgbClr val="3D4D46"/>
                </a:solidFill>
                <a:latin typeface="Nunito" pitchFamily="34" charset="0"/>
                <a:ea typeface="Nunito" pitchFamily="34" charset="-122"/>
                <a:cs typeface="Nunito" pitchFamily="34" charset="-120"/>
              </a:rPr>
              <a:t>Live updates and scheduled jobs</a:t>
            </a:r>
            <a:endParaRPr lang="en-US" sz="1400" dirty="0"/>
          </a:p>
        </p:txBody>
      </p:sp>
      <p:sp>
        <p:nvSpPr>
          <p:cNvPr id="8" name="Arrow phone"/>
          <p:cNvSpPr/>
          <p:nvPr/>
        </p:nvSpPr>
        <p:spPr>
          <a:xfrm>
            <a:off x="3648456" y="2743200"/>
            <a:ext cx="548640" cy="0"/>
          </a:xfrm>
          <a:prstGeom prst="line">
            <a:avLst/>
          </a:prstGeom>
          <a:noFill/>
          <a:ln w="19050">
            <a:solidFill>
              <a:srgbClr val="2F6B57"/>
            </a:solidFill>
            <a:prstDash val="solid"/>
            <a:tailEnd type="triangle" w="med" len="med"/>
          </a:ln>
        </p:spPr>
      </p:sp>
      <p:sp>
        <p:nvSpPr>
          <p:cNvPr id="9" name="Service 1 box"/>
          <p:cNvSpPr/>
          <p:nvPr/>
        </p:nvSpPr>
        <p:spPr>
          <a:xfrm>
            <a:off x="8677656" y="1691640"/>
            <a:ext cx="2700223" cy="566928"/>
          </a:xfrm>
          <a:prstGeom prst="roundRect">
            <a:avLst>
              <a:gd name="adj" fmla="val 5228"/>
            </a:avLst>
          </a:prstGeom>
          <a:solidFill>
            <a:srgbClr val="E7F2EC"/>
          </a:solidFill>
          <a:ln/>
        </p:spPr>
      </p:sp>
      <p:sp>
        <p:nvSpPr>
          <p:cNvPr id="10" name="Service 1 text"/>
          <p:cNvSpPr txBox="1"/>
          <p:nvPr/>
        </p:nvSpPr>
        <p:spPr>
          <a:xfrm>
            <a:off x="8860536" y="1847088"/>
            <a:ext cx="2334463" cy="320040"/>
          </a:xfrm>
          <a:prstGeom prst="rect">
            <a:avLst/>
          </a:prstGeom>
          <a:noFill/>
          <a:ln/>
        </p:spPr>
        <p:txBody>
          <a:bodyPr wrap="square" lIns="0" tIns="0" rIns="0" bIns="0" rtlCol="0" anchor="t">
            <a:normAutofit/>
          </a:bodyPr>
          <a:lstStyle/>
          <a:p>
            <a:pPr marL="0" indent="0" algn="l">
              <a:lnSpc>
                <a:spcPts val="1959"/>
              </a:lnSpc>
              <a:spcAft>
                <a:spcPts val="0"/>
              </a:spcAft>
              <a:buNone/>
            </a:pPr>
            <a:r>
              <a:rPr lang="en-US" sz="1400" dirty="0">
                <a:solidFill>
                  <a:srgbClr val="1F2D27"/>
                </a:solidFill>
                <a:latin typeface="Nunito" pitchFamily="34" charset="0"/>
                <a:ea typeface="Nunito" pitchFamily="34" charset="-122"/>
                <a:cs typeface="Nunito" pitchFamily="34" charset="-120"/>
              </a:rPr>
              <a:t>Google sign-in</a:t>
            </a:r>
            <a:endParaRPr lang="en-US" sz="1400" dirty="0"/>
          </a:p>
        </p:txBody>
      </p:sp>
      <p:sp>
        <p:nvSpPr>
          <p:cNvPr id="11" name="Arrow service 1"/>
          <p:cNvSpPr/>
          <p:nvPr/>
        </p:nvSpPr>
        <p:spPr>
          <a:xfrm>
            <a:off x="8037576" y="1975104"/>
            <a:ext cx="548640" cy="0"/>
          </a:xfrm>
          <a:prstGeom prst="line">
            <a:avLst/>
          </a:prstGeom>
          <a:noFill/>
          <a:ln w="19050">
            <a:solidFill>
              <a:srgbClr val="2F6B57"/>
            </a:solidFill>
            <a:prstDash val="solid"/>
            <a:tailEnd type="triangle" w="med" len="med"/>
          </a:ln>
        </p:spPr>
      </p:sp>
      <p:sp>
        <p:nvSpPr>
          <p:cNvPr id="12" name="Service 2 box"/>
          <p:cNvSpPr/>
          <p:nvPr/>
        </p:nvSpPr>
        <p:spPr>
          <a:xfrm>
            <a:off x="8677656" y="2423160"/>
            <a:ext cx="2700223" cy="566928"/>
          </a:xfrm>
          <a:prstGeom prst="roundRect">
            <a:avLst>
              <a:gd name="adj" fmla="val 5228"/>
            </a:avLst>
          </a:prstGeom>
          <a:solidFill>
            <a:srgbClr val="E7F2EC"/>
          </a:solidFill>
          <a:ln/>
        </p:spPr>
      </p:sp>
      <p:sp>
        <p:nvSpPr>
          <p:cNvPr id="13" name="Service 2 text"/>
          <p:cNvSpPr txBox="1"/>
          <p:nvPr/>
        </p:nvSpPr>
        <p:spPr>
          <a:xfrm>
            <a:off x="8860536" y="2578608"/>
            <a:ext cx="2334463" cy="320040"/>
          </a:xfrm>
          <a:prstGeom prst="rect">
            <a:avLst/>
          </a:prstGeom>
          <a:noFill/>
          <a:ln/>
        </p:spPr>
        <p:txBody>
          <a:bodyPr wrap="square" lIns="0" tIns="0" rIns="0" bIns="0" rtlCol="0" anchor="t">
            <a:normAutofit/>
          </a:bodyPr>
          <a:lstStyle/>
          <a:p>
            <a:pPr marL="0" indent="0" algn="l">
              <a:lnSpc>
                <a:spcPts val="1959"/>
              </a:lnSpc>
              <a:spcAft>
                <a:spcPts val="0"/>
              </a:spcAft>
              <a:buNone/>
            </a:pPr>
            <a:r>
              <a:rPr lang="en-US" sz="1400" dirty="0">
                <a:solidFill>
                  <a:srgbClr val="1F2D27"/>
                </a:solidFill>
                <a:latin typeface="Nunito" pitchFamily="34" charset="0"/>
                <a:ea typeface="Nunito" pitchFamily="34" charset="-122"/>
                <a:cs typeface="Nunito" pitchFamily="34" charset="-120"/>
              </a:rPr>
              <a:t>Google Calendar: free/busy only</a:t>
            </a:r>
            <a:endParaRPr lang="en-US" sz="1400" dirty="0"/>
          </a:p>
        </p:txBody>
      </p:sp>
      <p:sp>
        <p:nvSpPr>
          <p:cNvPr id="14" name="Arrow service 2"/>
          <p:cNvSpPr/>
          <p:nvPr/>
        </p:nvSpPr>
        <p:spPr>
          <a:xfrm>
            <a:off x="8037576" y="2706624"/>
            <a:ext cx="548640" cy="0"/>
          </a:xfrm>
          <a:prstGeom prst="line">
            <a:avLst/>
          </a:prstGeom>
          <a:noFill/>
          <a:ln w="19050">
            <a:solidFill>
              <a:srgbClr val="2F6B57"/>
            </a:solidFill>
            <a:prstDash val="solid"/>
            <a:tailEnd type="triangle" w="med" len="med"/>
          </a:ln>
        </p:spPr>
      </p:sp>
      <p:sp>
        <p:nvSpPr>
          <p:cNvPr id="15" name="Service 3 box"/>
          <p:cNvSpPr/>
          <p:nvPr/>
        </p:nvSpPr>
        <p:spPr>
          <a:xfrm>
            <a:off x="8677656" y="3154680"/>
            <a:ext cx="2700223" cy="566928"/>
          </a:xfrm>
          <a:prstGeom prst="roundRect">
            <a:avLst>
              <a:gd name="adj" fmla="val 5228"/>
            </a:avLst>
          </a:prstGeom>
          <a:solidFill>
            <a:srgbClr val="E7F2EC"/>
          </a:solidFill>
          <a:ln/>
        </p:spPr>
      </p:sp>
      <p:sp>
        <p:nvSpPr>
          <p:cNvPr id="16" name="Service 3 text"/>
          <p:cNvSpPr txBox="1"/>
          <p:nvPr/>
        </p:nvSpPr>
        <p:spPr>
          <a:xfrm>
            <a:off x="8860536" y="3310128"/>
            <a:ext cx="2334463" cy="320040"/>
          </a:xfrm>
          <a:prstGeom prst="rect">
            <a:avLst/>
          </a:prstGeom>
          <a:noFill/>
          <a:ln/>
        </p:spPr>
        <p:txBody>
          <a:bodyPr wrap="square" lIns="0" tIns="0" rIns="0" bIns="0" rtlCol="0" anchor="t">
            <a:normAutofit/>
          </a:bodyPr>
          <a:lstStyle/>
          <a:p>
            <a:pPr marL="0" indent="0" algn="l">
              <a:lnSpc>
                <a:spcPts val="1959"/>
              </a:lnSpc>
              <a:spcAft>
                <a:spcPts val="0"/>
              </a:spcAft>
              <a:buNone/>
            </a:pPr>
            <a:r>
              <a:rPr lang="en-US" sz="1400" dirty="0">
                <a:solidFill>
                  <a:srgbClr val="1F2D27"/>
                </a:solidFill>
                <a:latin typeface="Nunito" pitchFamily="34" charset="0"/>
                <a:ea typeface="Nunito" pitchFamily="34" charset="-122"/>
                <a:cs typeface="Nunito" pitchFamily="34" charset="-120"/>
              </a:rPr>
              <a:t>Web Push notifications</a:t>
            </a:r>
            <a:endParaRPr lang="en-US" sz="1400" dirty="0"/>
          </a:p>
        </p:txBody>
      </p:sp>
      <p:sp>
        <p:nvSpPr>
          <p:cNvPr id="17" name="Arrow service 3"/>
          <p:cNvSpPr/>
          <p:nvPr/>
        </p:nvSpPr>
        <p:spPr>
          <a:xfrm>
            <a:off x="8037576" y="3438144"/>
            <a:ext cx="548640" cy="0"/>
          </a:xfrm>
          <a:prstGeom prst="line">
            <a:avLst/>
          </a:prstGeom>
          <a:noFill/>
          <a:ln w="19050">
            <a:solidFill>
              <a:srgbClr val="2F6B57"/>
            </a:solidFill>
            <a:prstDash val="solid"/>
            <a:tailEnd type="triangle" w="med" len="med"/>
          </a:ln>
        </p:spPr>
      </p:sp>
      <p:sp>
        <p:nvSpPr>
          <p:cNvPr id="18" name="Card 1 card"/>
          <p:cNvSpPr/>
          <p:nvPr/>
        </p:nvSpPr>
        <p:spPr>
          <a:xfrm>
            <a:off x="813816" y="4160520"/>
            <a:ext cx="3338474" cy="1600200"/>
          </a:xfrm>
          <a:prstGeom prst="roundRect">
            <a:avLst>
              <a:gd name="adj" fmla="val 5228"/>
            </a:avLst>
          </a:prstGeom>
          <a:solidFill>
            <a:srgbClr val="E7F2EC"/>
          </a:solidFill>
          <a:ln/>
        </p:spPr>
      </p:sp>
      <p:sp>
        <p:nvSpPr>
          <p:cNvPr id="19" name="Card 1 text"/>
          <p:cNvSpPr txBox="1"/>
          <p:nvPr/>
        </p:nvSpPr>
        <p:spPr>
          <a:xfrm>
            <a:off x="1088136" y="4434840"/>
            <a:ext cx="2789834" cy="114300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Two taps, one owner</a:t>
            </a:r>
            <a:endParaRPr lang="en-US" sz="20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A claim checks the task is still open and assigns it in one step</a:t>
            </a:r>
            <a:endParaRPr lang="en-US" sz="1400" dirty="0"/>
          </a:p>
        </p:txBody>
      </p:sp>
      <p:sp>
        <p:nvSpPr>
          <p:cNvPr id="20" name="Card 2 card"/>
          <p:cNvSpPr/>
          <p:nvPr/>
        </p:nvSpPr>
        <p:spPr>
          <a:xfrm>
            <a:off x="4426610" y="4160520"/>
            <a:ext cx="3338474" cy="1600200"/>
          </a:xfrm>
          <a:prstGeom prst="roundRect">
            <a:avLst>
              <a:gd name="adj" fmla="val 5228"/>
            </a:avLst>
          </a:prstGeom>
          <a:solidFill>
            <a:srgbClr val="E7F2EC"/>
          </a:solidFill>
          <a:ln/>
        </p:spPr>
      </p:sp>
      <p:sp>
        <p:nvSpPr>
          <p:cNvPr id="21" name="Card 2 text"/>
          <p:cNvSpPr txBox="1"/>
          <p:nvPr/>
        </p:nvSpPr>
        <p:spPr>
          <a:xfrm>
            <a:off x="4700930" y="4434840"/>
            <a:ext cx="2789834" cy="114300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Every rule tested</a:t>
            </a:r>
            <a:endParaRPr lang="en-US" sz="20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A database test for every rule, plus checks on every change</a:t>
            </a:r>
            <a:endParaRPr lang="en-US" sz="1400" dirty="0"/>
          </a:p>
        </p:txBody>
      </p:sp>
      <p:sp>
        <p:nvSpPr>
          <p:cNvPr id="22" name="Card 3 card"/>
          <p:cNvSpPr/>
          <p:nvPr/>
        </p:nvSpPr>
        <p:spPr>
          <a:xfrm>
            <a:off x="8039405" y="4160520"/>
            <a:ext cx="3338474" cy="1600200"/>
          </a:xfrm>
          <a:prstGeom prst="roundRect">
            <a:avLst>
              <a:gd name="adj" fmla="val 5228"/>
            </a:avLst>
          </a:prstGeom>
          <a:solidFill>
            <a:srgbClr val="E7F2EC"/>
          </a:solidFill>
          <a:ln/>
        </p:spPr>
      </p:sp>
      <p:sp>
        <p:nvSpPr>
          <p:cNvPr id="23" name="Card 3 text"/>
          <p:cNvSpPr txBox="1"/>
          <p:nvPr/>
        </p:nvSpPr>
        <p:spPr>
          <a:xfrm>
            <a:off x="8313725" y="4434840"/>
            <a:ext cx="2789834" cy="114300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$0 to run</a:t>
            </a:r>
            <a:endParaRPr lang="en-US" sz="20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Built and run on free tiers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Kicker"/>
          <p:cNvSpPr txBox="1"/>
          <p:nvPr/>
        </p:nvSpPr>
        <p:spPr>
          <a:xfrm>
            <a:off x="813816" y="457200"/>
            <a:ext cx="5486400" cy="237744"/>
          </a:xfrm>
          <a:prstGeom prst="rect">
            <a:avLst/>
          </a:prstGeom>
          <a:noFill/>
          <a:ln/>
        </p:spPr>
        <p:txBody>
          <a:bodyPr wrap="square" lIns="0" tIns="0" rIns="0" bIns="0" rtlCol="0" anchor="t">
            <a:normAutofit/>
          </a:bodyPr>
          <a:lstStyle/>
          <a:p>
            <a:pPr marL="0" indent="0" algn="l">
              <a:lnSpc>
                <a:spcPts val="1680"/>
              </a:lnSpc>
              <a:spcAft>
                <a:spcPts val="0"/>
              </a:spcAft>
              <a:buNone/>
            </a:pPr>
            <a:r>
              <a:rPr lang="en-US" sz="1200" b="1" dirty="0">
                <a:solidFill>
                  <a:srgbClr val="2F6B57"/>
                </a:solidFill>
                <a:latin typeface="Nunito" pitchFamily="34" charset="0"/>
                <a:ea typeface="Nunito" pitchFamily="34" charset="-122"/>
                <a:cs typeface="Nunito" pitchFamily="34" charset="-120"/>
              </a:rPr>
              <a:t>APPENDIX · A8</a:t>
            </a:r>
            <a:endParaRPr lang="en-US" sz="1200" dirty="0"/>
          </a:p>
        </p:txBody>
      </p:sp>
      <p:sp>
        <p:nvSpPr>
          <p:cNvPr id="3" name="Title"/>
          <p:cNvSpPr>
            <a:spLocks noGrp="1"/>
          </p:cNvSpPr>
          <p:nvPr>
            <p:ph type="title"/>
          </p:nvPr>
        </p:nvSpPr>
        <p:spPr>
          <a:xfrm>
            <a:off x="813816" y="813816"/>
            <a:ext cx="10564063" cy="566928"/>
          </a:xfrm>
          <a:prstGeom prst="rect">
            <a:avLst/>
          </a:prstGeom>
          <a:noFill/>
          <a:ln/>
        </p:spPr>
        <p:txBody>
          <a:bodyPr wrap="square" lIns="0" tIns="0" rIns="0" bIns="0" rtlCol="0" anchor="t">
            <a:normAutofit/>
          </a:bodyPr>
          <a:lstStyle/>
          <a:p>
            <a:pPr marL="0" indent="0" algn="l">
              <a:lnSpc>
                <a:spcPts val="3960"/>
              </a:lnSpc>
              <a:spcAft>
                <a:spcPts val="0"/>
              </a:spcAft>
              <a:buNone/>
            </a:pPr>
            <a:r>
              <a:rPr lang="en-US" sz="3600" b="1" dirty="0">
                <a:solidFill>
                  <a:srgbClr val="1F2D27"/>
                </a:solidFill>
                <a:latin typeface="Nunito" pitchFamily="34" charset="0"/>
                <a:ea typeface="Nunito" pitchFamily="34" charset="-122"/>
                <a:cs typeface="Nunito" pitchFamily="34" charset="-120"/>
              </a:rPr>
              <a:t>Roadmap, metrics and risks</a:t>
            </a:r>
            <a:endParaRPr lang="en-US" sz="3600" dirty="0"/>
          </a:p>
        </p:txBody>
      </p:sp>
      <p:sp>
        <p:nvSpPr>
          <p:cNvPr id="4" name="Card 1 card"/>
          <p:cNvSpPr/>
          <p:nvPr/>
        </p:nvSpPr>
        <p:spPr>
          <a:xfrm>
            <a:off x="813816" y="1691640"/>
            <a:ext cx="3338474" cy="3429000"/>
          </a:xfrm>
          <a:prstGeom prst="roundRect">
            <a:avLst>
              <a:gd name="adj" fmla="val 5228"/>
            </a:avLst>
          </a:prstGeom>
          <a:solidFill>
            <a:srgbClr val="E7F2EC"/>
          </a:solidFill>
          <a:ln/>
        </p:spPr>
      </p:sp>
      <p:sp>
        <p:nvSpPr>
          <p:cNvPr id="5" name="Card 1 text"/>
          <p:cNvSpPr txBox="1"/>
          <p:nvPr/>
        </p:nvSpPr>
        <p:spPr>
          <a:xfrm>
            <a:off x="1088136" y="1965960"/>
            <a:ext cx="2789834" cy="297180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Next</a:t>
            </a:r>
            <a:endParaRPr lang="en-US" sz="20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Oct–Nov: a two-week test in caregiver groups</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Nov–Jan: 10–20 founding families</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Feb–Apr: the first 100 families and a first elder-care partner</a:t>
            </a:r>
            <a:endParaRPr lang="en-US" sz="1400" dirty="0"/>
          </a:p>
        </p:txBody>
      </p:sp>
      <p:sp>
        <p:nvSpPr>
          <p:cNvPr id="6" name="Card 2 card"/>
          <p:cNvSpPr/>
          <p:nvPr/>
        </p:nvSpPr>
        <p:spPr>
          <a:xfrm>
            <a:off x="4426610" y="1691640"/>
            <a:ext cx="3338474" cy="3429000"/>
          </a:xfrm>
          <a:prstGeom prst="roundRect">
            <a:avLst>
              <a:gd name="adj" fmla="val 5228"/>
            </a:avLst>
          </a:prstGeom>
          <a:solidFill>
            <a:srgbClr val="E7F2EC"/>
          </a:solidFill>
          <a:ln/>
        </p:spPr>
      </p:sp>
      <p:sp>
        <p:nvSpPr>
          <p:cNvPr id="7" name="Card 2 text"/>
          <p:cNvSpPr txBox="1"/>
          <p:nvPr/>
        </p:nvSpPr>
        <p:spPr>
          <a:xfrm>
            <a:off x="4700930" y="1965960"/>
            <a:ext cx="2789834" cy="297180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2F6B57"/>
                </a:solidFill>
                <a:latin typeface="Nunito" pitchFamily="34" charset="0"/>
                <a:ea typeface="Nunito" pitchFamily="34" charset="-122"/>
                <a:cs typeface="Nunito" pitchFamily="34" charset="-120"/>
              </a:rPr>
              <a:t>How we'll measure it</a:t>
            </a:r>
            <a:endParaRPr lang="en-US" sz="20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North star: weekly circles where helpers complete tasks</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≥40% of tasks done by non-coordinators</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≥80% of care slots covered before they're due</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≥70% of paying circles still active at week 8</a:t>
            </a:r>
            <a:endParaRPr lang="en-US" sz="1400" dirty="0"/>
          </a:p>
        </p:txBody>
      </p:sp>
      <p:sp>
        <p:nvSpPr>
          <p:cNvPr id="8" name="Card 3 card"/>
          <p:cNvSpPr/>
          <p:nvPr/>
        </p:nvSpPr>
        <p:spPr>
          <a:xfrm>
            <a:off x="8039405" y="1691640"/>
            <a:ext cx="3338474" cy="3429000"/>
          </a:xfrm>
          <a:prstGeom prst="roundRect">
            <a:avLst>
              <a:gd name="adj" fmla="val 5228"/>
            </a:avLst>
          </a:prstGeom>
          <a:solidFill>
            <a:srgbClr val="E7F2EC"/>
          </a:solidFill>
          <a:ln/>
        </p:spPr>
      </p:sp>
      <p:sp>
        <p:nvSpPr>
          <p:cNvPr id="9" name="Card 3 text"/>
          <p:cNvSpPr txBox="1"/>
          <p:nvPr/>
        </p:nvSpPr>
        <p:spPr>
          <a:xfrm>
            <a:off x="8313725" y="1965960"/>
            <a:ext cx="2789834" cy="2971800"/>
          </a:xfrm>
          <a:prstGeom prst="rect">
            <a:avLst/>
          </a:prstGeom>
          <a:noFill/>
          <a:ln/>
        </p:spPr>
        <p:txBody>
          <a:bodyPr wrap="square" lIns="0" tIns="0" rIns="0" bIns="0" rtlCol="0" anchor="t">
            <a:normAutofit/>
          </a:bodyPr>
          <a:lstStyle/>
          <a:p>
            <a:pPr marL="0" indent="0" algn="l">
              <a:lnSpc>
                <a:spcPts val="2600"/>
              </a:lnSpc>
              <a:spcAft>
                <a:spcPts val="900"/>
              </a:spcAft>
              <a:buNone/>
            </a:pPr>
            <a:r>
              <a:rPr lang="en-US" sz="2000" b="1" dirty="0">
                <a:solidFill>
                  <a:srgbClr val="8A5A12"/>
                </a:solidFill>
                <a:latin typeface="Nunito" pitchFamily="34" charset="0"/>
                <a:ea typeface="Nunito" pitchFamily="34" charset="-122"/>
                <a:cs typeface="Nunito" pitchFamily="34" charset="-120"/>
              </a:rPr>
              <a:t>What could go wrong</a:t>
            </a:r>
            <a:endParaRPr lang="en-US" sz="20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Helpers don't join: one-tap Accept from the chat</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Families won't pay: founding price and a money-back guarantee</a:t>
            </a:r>
            <a:endParaRPr lang="en-US" sz="1400" dirty="0"/>
          </a:p>
          <a:p>
            <a:pPr marL="228600" indent="-228600" algn="l">
              <a:lnSpc>
                <a:spcPts val="1959"/>
              </a:lnSpc>
              <a:spcAft>
                <a:spcPts val="700"/>
              </a:spcAft>
              <a:buFont typeface="Arial"/>
              <a:buChar char="•"/>
            </a:pPr>
            <a:r>
              <a:rPr lang="en-US" sz="1400" dirty="0">
                <a:solidFill>
                  <a:srgbClr val="3D4D46"/>
                </a:solidFill>
                <a:latin typeface="Nunito" pitchFamily="34" charset="0"/>
                <a:ea typeface="Nunito" pitchFamily="34" charset="-122"/>
                <a:cs typeface="Nunito" pitchFamily="34" charset="-120"/>
              </a:rPr>
              <a:t>Care-data worries: hosted in Canada, consent, PIPEDA review</a:t>
            </a:r>
            <a:endParaRPr lang="en-US" sz="1400" dirty="0"/>
          </a:p>
        </p:txBody>
      </p:sp>
    </p:spTree>
  </p:cSld>
  <p:clrMapOvr>
    <a:masterClrMapping/>
  </p:clrMapOvr>
</p:sld>
</file>

<file path=ppt/theme/theme1.xml><?xml version="1.0" encoding="utf-8"?>
<a:theme xmlns:a="http://schemas.openxmlformats.org/drawingml/2006/main" name="Kindred Demo Day Pitch (redesign)">
  <a:themeElements>
    <a:clrScheme name="Kindred Demo Day Pitch (redesign)">
      <a:dk1>
        <a:srgbClr val="1F2D27"/>
      </a:dk1>
      <a:lt1>
        <a:srgbClr val="FBF8F1"/>
      </a:lt1>
      <a:dk2>
        <a:srgbClr val="56605A"/>
      </a:dk2>
      <a:lt2>
        <a:srgbClr val="E5E4DD"/>
      </a:lt2>
      <a:accent1>
        <a:srgbClr val="2F6B57"/>
      </a:accent1>
      <a:accent2>
        <a:srgbClr val="8A5A12"/>
      </a:accent2>
      <a:accent3>
        <a:srgbClr val="8CC3AC"/>
      </a:accent3>
      <a:accent4>
        <a:srgbClr val="3D4D46"/>
      </a:accent4>
      <a:accent5>
        <a:srgbClr val="5B6B63"/>
      </a:accent5>
      <a:accent6>
        <a:srgbClr val="9AA0A6"/>
      </a:accent6>
      <a:hlink>
        <a:srgbClr val="0563C1"/>
      </a:hlink>
      <a:folHlink>
        <a:srgbClr val="954F72"/>
      </a:folHlink>
    </a:clrScheme>
    <a:fontScheme name="Kindred Demo Day Pitch (redesign)">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12</Slides>
  <Notes>12</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Kindred Demo Day Pitch (redesign)</vt:lpstr>
      <vt:lpstr>Who's taking Dad on Thursday?</vt:lpstr>
      <vt:lpstr>Everyone reacted. Nobody went.</vt:lpstr>
      <vt:lpstr>[X of N] caregivers had care slip in the last three months.</vt:lpstr>
      <vt:lpstr>What we heard, and what we built</vt:lpstr>
      <vt:lpstr>A chat records what was said. Kindred records who said yes.</vt:lpstr>
      <vt:lpstr>Simple enough for every relative</vt:lpstr>
      <vt:lpstr>The core loop, on two phones</vt:lpstr>
      <vt:lpstr>The coordinator pays. Everyone they invite is free.</vt:lpstr>
      <vt:lpstr>420,000 Canadian families share a parent's care.</vt:lpstr>
      <vt:lpstr>Meet coordinators where they ask for help</vt:lpstr>
      <vt:lpstr>Families keep their chat. Kindred adds who said yes.</vt:lpstr>
      <vt:lpstr>Stop being the only one who remembers.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Kindred Demo Day Pitch (redesign)</dc:title>
  <dc:subject/>
  <dc:creator/>
  <cp:lastModifiedBy/>
  <cp:revision>20</cp:revision>
  <dcterms:created xsi:type="dcterms:W3CDTF">2026-10-08T19:30:13Z</dcterms:created>
  <dcterms:modified xsi:type="dcterms:W3CDTF">2026-10-14T22:52:29Z</dcterms:modified>
</cp:coreProperties>
</file>