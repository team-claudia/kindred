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03590-B6BD-4E9E-AB9C-60BF98F4D06F}" v="42" dt="2026-10-14T22:44:26.1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0128AEF4-CAE9-4C43-9651-234C5BBA9E0A}" type="datetimeFigureOut">
              <a:t>14/10/2026</a:t>
            </a:fld>
            <a:endParaRPr lang="en-GB"/>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DEC9B135-8175-470D-BF2C-7097ACB2DF64}" type="slidenum">
              <a:t>‹#›</a:t>
            </a:fld>
            <a:endParaRPr lang="en-GB"/>
          </a:p>
        </p:txBody>
      </p:sp>
    </p:spTree>
    <p:extLst>
      <p:ext uri="{BB962C8B-B14F-4D97-AF65-F5344CB8AC3E}">
        <p14:creationId xmlns:p14="http://schemas.microsoft.com/office/powerpoint/2010/main" val="2095322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Open with the question on screen and let it land. Then: "In most families, one sibling knows the answer and everyone else is guessing." The dashed question mark is Kindred's own symbol for a task nobody has claimed; we answer it on the insight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about 45 seconds. The chat on the right is an illustration, not a real conversation. Walk through it: the request gets reactions, nobody claims it, and the appointment is missed. Tasks get buried, appointments are missed or doubled up, and the real cost is burnout and resentment between siblings.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about 45 seconds. These figures are real published data: Caregiver Action Network's 2026 survey of 272 US family caregivers. Say "a US survey found", never "we found". If asked about limits: US respondents from a caregiver nonprofit's email list, not specific to siblings. The 26% is the share who said coordinating appointments, medications and family communication is where technology could help most, second only to safety monitoring at 28%. Backup only, if a judge asks what we did ourselves: we ran a synthetic pilot, with AI personas answering our survey questions, to test them. Say clearly that it's AI-generated, not real caregivers (docs/research/synthetic). Once real survey results come in, they can join this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about 30 seconds (part of the validation minute). The left column and the quote come from Caregiver Action Network's 2026 survey of 272 US caregivers: medications and appointment scheduling were the most time-consuming tasks, open-ended answers pointed to little or no backup support, and information scattered across systems was a top challenge. This slide shows product thinking: each need maps to something we built. Backup only, if asked: our synthetic AI-persona interviews pointed the same way (missed handoffs after appointments, cover falling back on the coordinator), but they're AI-generated, not real people. Replace or add real interview findings once we have them.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about 15 seconds. Click once: the question mark from the cover becomes Maya's avatar. That's the root cause and the fix in one moment. Families do care, but a thumbs-up isn't a commitment. Kindred turns care into tasks that someone claims.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about 30 seconds. Give the reason behind each decision. Claim instead of assign, because ownership has to be agreed to. One tap, because "my brother won't use another app." Work with WhatsApp and Google Calendar, because that's where families already are. Not clinical, to keep trust and avoid liability. The screens are from the working app, the same ones the judges will see in the demo. If asked about the design process: we started from 31 wireframes, then built the finished design. Evidence if asked: in Caregiver Action Network's 2026 survey of 272 US caregivers, 23% would rather use text or email than download an app, and 26% are open to apps only if they're easy to set up.</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Speakers 2 and 3, about 2 minutes 30 seconds. Run the loop on two phones with the app on the Home Screen. Close with 10 seconds on the weekly summary (shown here) and the Free/Busy calendar check. Leave this slide up so judges can scan the code and join a sample Care Circle. Replace the dashed marigold box with the real QR code once the URL is final. Backup: the recorded demo video.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20 seconds. The coordinator feels the pain and pays; everyone they invite is free, so adoption isn't blocked. "Why pay when the group chat is free?" Founding families get their money back if Kindred doesn't help in 30 days. Evidence: in Caregiver Action Network's 2026 US survey, 28% would pay $11–25 a month for a tool that reduces stress, and we start at $5. If a judge pushes on price: only 12% would pay out of pocket and 32% say tools should be free. That's the risk, and it's why helpers are free, founding families get a money-back guarantee, and the pilot has to prove value.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20 seconds. Count families, not people: one coordinator pays for a circle of about three. Point at the last bar: our 3-year target is a sliver of the market, 2% of the families who need this.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20 seconds. Coordinators post in these groups at the moment of crisis: after a fall, a hospital discharge or a missed appointment. Founder-led and helpful, not advertising. The test has clear numbers for continuing or changing course. Evidence: in the same US survey, a trusted organization's recommendation was the #1 reason caregivers adopt a tool (131 of 272), ahead of ease of use and price. That's why our ask is introductions to elder-care organizations.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20 seconds. Kindred is additive: keep WhatsApp. The weekly summary of what happened and what's next has no real equivalent among the apps we looked at. If asked about CircleCare's contribution tracking: our weekly summary names who did what each week; a running tally over time isn't built yet.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about 30 seconds. Speaker 4 gives the next step and the ask (for example Family Caregivers of BC or Alzheimer Society chapters); speaker 1 finishes on the line in the middle. Stay within 7 minutes.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8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9525000" cy="1005780"/>
          </a:xfrm>
          <a:prstGeom prst="rect">
            <a:avLst/>
          </a:prstGeom>
          <a:noFill/>
          <a:ln/>
        </p:spPr>
        <p:txBody>
          <a:bodyPr wrap="square" lIns="0" tIns="0" rIns="0" bIns="0" rtlCol="0" anchor="t"/>
          <a:lstStyle>
            <a:lvl1pPr marL="0" indent="0" algn="l">
              <a:lnSpc>
                <a:spcPct val="115000"/>
              </a:lnSpc>
              <a:buNone/>
              <a:defRPr lang="en-US" sz="3600" dirty="0">
                <a:solidFill>
                  <a:srgbClr val="1F2D27"/>
                </a:solidFill>
                <a:latin typeface="Nunito" pitchFamily="34" charset="0"/>
                <a:ea typeface="Nunito" pitchFamily="34" charset="-122"/>
                <a:cs typeface="Nunito"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123380"/>
            <a:ext cx="10566400" cy="3921820"/>
          </a:xfrm>
          <a:prstGeom prst="rect">
            <a:avLst/>
          </a:prstGeom>
          <a:noFill/>
          <a:ln/>
        </p:spPr>
        <p:txBody>
          <a:bodyPr wrap="square" lIns="0" tIns="0" rIns="0" bIns="0" rtlCol="0" anchor="t"/>
          <a:lstStyle>
            <a:lvl1pPr marL="0" indent="0" algn="l">
              <a:lnSpc>
                <a:spcPct val="140000"/>
              </a:lnSpc>
              <a:buNone/>
              <a:defRPr lang="en-US" sz="1600" dirty="0">
                <a:solidFill>
                  <a:srgbClr val="1F2D27"/>
                </a:solidFill>
                <a:latin typeface="Nunito" pitchFamily="34" charset="0"/>
                <a:ea typeface="Nunito" pitchFamily="34" charset="-122"/>
                <a:cs typeface="Nunito"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8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9525000" cy="1005780"/>
          </a:xfrm>
          <a:prstGeom prst="rect">
            <a:avLst/>
          </a:prstGeom>
          <a:noFill/>
          <a:ln/>
        </p:spPr>
        <p:txBody>
          <a:bodyPr wrap="square" lIns="0" tIns="0" rIns="0" bIns="0" rtlCol="0" anchor="t"/>
          <a:lstStyle>
            <a:lvl1pPr marL="0" indent="0" algn="l">
              <a:lnSpc>
                <a:spcPct val="115000"/>
              </a:lnSpc>
              <a:buNone/>
              <a:defRPr lang="en-US" sz="3600" dirty="0">
                <a:solidFill>
                  <a:srgbClr val="1F2D27"/>
                </a:solidFill>
                <a:latin typeface="Nunito" pitchFamily="34" charset="0"/>
                <a:ea typeface="Nunito" pitchFamily="34" charset="-122"/>
                <a:cs typeface="Nunito"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123380"/>
            <a:ext cx="10566400" cy="3921820"/>
          </a:xfrm>
          <a:prstGeom prst="rect">
            <a:avLst/>
          </a:prstGeom>
          <a:noFill/>
          <a:ln/>
        </p:spPr>
        <p:txBody>
          <a:bodyPr wrap="square" lIns="0" tIns="0" rIns="0" bIns="0" rtlCol="0" anchor="t"/>
          <a:lstStyle>
            <a:lvl1pPr marL="0" indent="0" algn="l">
              <a:lnSpc>
                <a:spcPct val="140000"/>
              </a:lnSpc>
              <a:buNone/>
              <a:defRPr lang="en-US" sz="1600" dirty="0">
                <a:solidFill>
                  <a:srgbClr val="1F2D27"/>
                </a:solidFill>
                <a:latin typeface="Nunito" pitchFamily="34" charset="0"/>
                <a:ea typeface="Nunito" pitchFamily="34" charset="-122"/>
                <a:cs typeface="Nunito"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6B5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BF8F1"/>
                </a:solidFill>
                <a:latin typeface="Nunito" pitchFamily="34" charset="0"/>
                <a:ea typeface="Nunito" pitchFamily="34" charset="-122"/>
                <a:cs typeface="Nunito" pitchFamily="34" charset="-120"/>
              </a:rPr>
              <a:t>Kindred</a:t>
            </a:r>
            <a:endParaRPr lang="en-US" sz="2200" dirty="0"/>
          </a:p>
        </p:txBody>
      </p:sp>
      <p:sp>
        <p:nvSpPr>
          <p:cNvPr id="3" name="Text 1"/>
          <p:cNvSpPr>
            <a:spLocks noGrp="1"/>
          </p:cNvSpPr>
          <p:nvPr>
            <p:ph type="title"/>
          </p:nvPr>
        </p:nvSpPr>
        <p:spPr>
          <a:xfrm>
            <a:off x="812800" y="1610320"/>
            <a:ext cx="9156700" cy="1625600"/>
          </a:xfrm>
          <a:prstGeom prst="rect">
            <a:avLst/>
          </a:prstGeom>
          <a:noFill/>
          <a:ln/>
        </p:spPr>
        <p:txBody>
          <a:bodyPr wrap="square" lIns="0" tIns="0" rIns="0" bIns="0" rtlCol="0" anchor="t">
            <a:normAutofit/>
          </a:bodyPr>
          <a:lstStyle/>
          <a:p>
            <a:pPr marL="0" indent="0" algn="l">
              <a:lnSpc>
                <a:spcPts val="6300"/>
              </a:lnSpc>
              <a:buNone/>
            </a:pPr>
            <a:r>
              <a:rPr lang="en-US" sz="6000" b="1" i="0" dirty="0">
                <a:solidFill>
                  <a:srgbClr val="FBF8F1"/>
                </a:solidFill>
                <a:latin typeface="Nunito" pitchFamily="34" charset="0"/>
                <a:ea typeface="Nunito" pitchFamily="34" charset="-122"/>
                <a:cs typeface="Nunito" pitchFamily="34" charset="-120"/>
              </a:rPr>
              <a:t>Who's taking Dad on Thursday?</a:t>
            </a:r>
            <a:endParaRPr lang="en-US" sz="6000" dirty="0"/>
          </a:p>
        </p:txBody>
      </p:sp>
      <p:sp>
        <p:nvSpPr>
          <p:cNvPr id="4" name="Shape 2"/>
          <p:cNvSpPr/>
          <p:nvPr/>
        </p:nvSpPr>
        <p:spPr>
          <a:xfrm>
            <a:off x="812800" y="4064000"/>
            <a:ext cx="6985000" cy="1270000"/>
          </a:xfrm>
          <a:prstGeom prst="roundRect">
            <a:avLst>
              <a:gd name="adj" fmla="val 7000"/>
            </a:avLst>
          </a:prstGeom>
          <a:solidFill>
            <a:srgbClr val="FBF8F1"/>
          </a:solidFill>
          <a:ln/>
        </p:spPr>
      </p:sp>
      <p:sp>
        <p:nvSpPr>
          <p:cNvPr id="5" name="Text 3"/>
          <p:cNvSpPr/>
          <p:nvPr/>
        </p:nvSpPr>
        <p:spPr>
          <a:xfrm>
            <a:off x="1117600" y="4373910"/>
            <a:ext cx="5441696"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F2D27"/>
                </a:solidFill>
                <a:latin typeface="Nunito" pitchFamily="34" charset="0"/>
                <a:ea typeface="Nunito" pitchFamily="34" charset="-122"/>
                <a:cs typeface="Nunito" pitchFamily="34" charset="-120"/>
              </a:rPr>
              <a:t>Take Dad to physio</a:t>
            </a:r>
            <a:endParaRPr lang="en-US" sz="2200" dirty="0"/>
          </a:p>
        </p:txBody>
      </p:sp>
      <p:sp>
        <p:nvSpPr>
          <p:cNvPr id="6" name="Text 4"/>
          <p:cNvSpPr/>
          <p:nvPr/>
        </p:nvSpPr>
        <p:spPr>
          <a:xfrm>
            <a:off x="1117600" y="4759970"/>
            <a:ext cx="5441696"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8A5A12"/>
                </a:solidFill>
                <a:latin typeface="Nunito" pitchFamily="34" charset="0"/>
                <a:ea typeface="Nunito" pitchFamily="34" charset="-122"/>
                <a:cs typeface="Nunito" pitchFamily="34" charset="-120"/>
              </a:rPr>
              <a:t>Thursday, 2:00 pm · Nobody has claimed this</a:t>
            </a:r>
            <a:endParaRPr lang="en-US" sz="1600" dirty="0"/>
          </a:p>
        </p:txBody>
      </p:sp>
      <p:sp>
        <p:nvSpPr>
          <p:cNvPr id="7" name="Text 5"/>
          <p:cNvSpPr/>
          <p:nvPr/>
        </p:nvSpPr>
        <p:spPr>
          <a:xfrm>
            <a:off x="6743700" y="4330700"/>
            <a:ext cx="736600" cy="736600"/>
          </a:xfrm>
          <a:prstGeom prst="roundRect">
            <a:avLst>
              <a:gd name="adj" fmla="val 50000"/>
            </a:avLst>
          </a:prstGeom>
          <a:noFill/>
          <a:ln w="25400">
            <a:solidFill>
              <a:srgbClr val="E9A23B"/>
            </a:solidFill>
            <a:prstDash val="dash"/>
          </a:ln>
        </p:spPr>
        <p:txBody>
          <a:bodyPr wrap="square" lIns="0" tIns="0" rIns="0" bIns="0" rtlCol="0" anchor="ctr">
            <a:normAutofit/>
          </a:bodyPr>
          <a:lstStyle/>
          <a:p>
            <a:pPr marL="0" indent="0" algn="ctr">
              <a:lnSpc>
                <a:spcPts val="3080"/>
              </a:lnSpc>
              <a:buNone/>
            </a:pPr>
            <a:r>
              <a:rPr lang="en-US" sz="2200" b="1" dirty="0">
                <a:solidFill>
                  <a:srgbClr val="1F2D27"/>
                </a:solidFill>
                <a:latin typeface="Nunito" pitchFamily="34" charset="0"/>
                <a:ea typeface="Nunito" pitchFamily="34" charset="-122"/>
                <a:cs typeface="Nunito" pitchFamily="34" charset="-120"/>
              </a:rPr>
              <a:t>?</a:t>
            </a:r>
            <a:endParaRPr lang="en-US" sz="2200" dirty="0"/>
          </a:p>
        </p:txBody>
      </p:sp>
      <p:sp>
        <p:nvSpPr>
          <p:cNvPr id="8" name="Text 6"/>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7F2EC"/>
                </a:solidFill>
                <a:latin typeface="Nunito" pitchFamily="34" charset="0"/>
                <a:ea typeface="Nunito" pitchFamily="34" charset="-122"/>
                <a:cs typeface="Nunito" pitchFamily="34" charset="-120"/>
              </a:rPr>
              <a:t>productBC buildathon Demo Day, 17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5153914"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Everyone reacted. Nobody went.</a:t>
            </a:r>
            <a:endParaRPr lang="en-US" sz="3600" dirty="0"/>
          </a:p>
        </p:txBody>
      </p:sp>
      <p:sp>
        <p:nvSpPr>
          <p:cNvPr id="3" name="Text 1"/>
          <p:cNvSpPr/>
          <p:nvPr/>
        </p:nvSpPr>
        <p:spPr>
          <a:xfrm>
            <a:off x="812800" y="2072580"/>
            <a:ext cx="5153914"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One sibling becomes the coordinator. Everyone else helps through a group chat, where a thumbs-up isn't a yes.</a:t>
            </a:r>
            <a:endParaRPr lang="en-US" sz="1600" dirty="0"/>
          </a:p>
        </p:txBody>
      </p:sp>
      <p:sp>
        <p:nvSpPr>
          <p:cNvPr id="4" name="Text 2"/>
          <p:cNvSpPr/>
          <p:nvPr/>
        </p:nvSpPr>
        <p:spPr>
          <a:xfrm>
            <a:off x="812800" y="5008959"/>
            <a:ext cx="5153914"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About 6.7 million Canadians give unpaid care to adults.</a:t>
            </a:r>
            <a:endParaRPr lang="en-US" sz="1600" dirty="0"/>
          </a:p>
        </p:txBody>
      </p:sp>
      <p:sp>
        <p:nvSpPr>
          <p:cNvPr id="5" name="Text 3"/>
          <p:cNvSpPr/>
          <p:nvPr/>
        </p:nvSpPr>
        <p:spPr>
          <a:xfrm>
            <a:off x="812800" y="5831880"/>
            <a:ext cx="515391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Statistics Canada, 2022</a:t>
            </a:r>
            <a:endParaRPr lang="en-US" sz="1200" dirty="0"/>
          </a:p>
        </p:txBody>
      </p:sp>
      <p:sp>
        <p:nvSpPr>
          <p:cNvPr id="6" name="Shape 4"/>
          <p:cNvSpPr/>
          <p:nvPr/>
        </p:nvSpPr>
        <p:spPr>
          <a:xfrm>
            <a:off x="6426200" y="812800"/>
            <a:ext cx="4953000" cy="5232400"/>
          </a:xfrm>
          <a:prstGeom prst="roundRect">
            <a:avLst>
              <a:gd name="adj" fmla="val 2821"/>
            </a:avLst>
          </a:prstGeom>
          <a:solidFill>
            <a:srgbClr val="E7F2EC"/>
          </a:solidFill>
          <a:ln/>
        </p:spPr>
      </p:sp>
      <p:sp>
        <p:nvSpPr>
          <p:cNvPr id="7" name="Shape 5"/>
          <p:cNvSpPr/>
          <p:nvPr/>
        </p:nvSpPr>
        <p:spPr>
          <a:xfrm>
            <a:off x="6731000" y="1117600"/>
            <a:ext cx="3810000" cy="1117501"/>
          </a:xfrm>
          <a:prstGeom prst="roundRect">
            <a:avLst>
              <a:gd name="adj" fmla="val 7955"/>
            </a:avLst>
          </a:prstGeom>
          <a:solidFill>
            <a:srgbClr val="FBF8F1"/>
          </a:solidFill>
          <a:ln/>
        </p:spPr>
      </p:sp>
      <p:sp>
        <p:nvSpPr>
          <p:cNvPr id="8" name="Text 6"/>
          <p:cNvSpPr/>
          <p:nvPr/>
        </p:nvSpPr>
        <p:spPr>
          <a:xfrm>
            <a:off x="6934200" y="1270000"/>
            <a:ext cx="350570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6B57"/>
                </a:solidFill>
                <a:latin typeface="Nunito" pitchFamily="34" charset="0"/>
                <a:ea typeface="Nunito" pitchFamily="34" charset="-122"/>
                <a:cs typeface="Nunito" pitchFamily="34" charset="-120"/>
              </a:rPr>
              <a:t>Ada</a:t>
            </a:r>
            <a:endParaRPr lang="en-US" sz="1200" dirty="0"/>
          </a:p>
        </p:txBody>
      </p:sp>
      <p:sp>
        <p:nvSpPr>
          <p:cNvPr id="9" name="Text 7"/>
          <p:cNvSpPr/>
          <p:nvPr/>
        </p:nvSpPr>
        <p:spPr>
          <a:xfrm>
            <a:off x="6934200" y="1534120"/>
            <a:ext cx="3505708" cy="57398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D27"/>
                </a:solidFill>
                <a:latin typeface="Nunito" pitchFamily="34" charset="0"/>
                <a:ea typeface="Nunito" pitchFamily="34" charset="-122"/>
                <a:cs typeface="Nunito" pitchFamily="34" charset="-120"/>
              </a:rPr>
              <a:t>Can someone take Dad to physio on Thursday?</a:t>
            </a:r>
            <a:endParaRPr lang="en-US" sz="1600" dirty="0"/>
          </a:p>
        </p:txBody>
      </p:sp>
      <p:sp>
        <p:nvSpPr>
          <p:cNvPr id="10" name="Text 8"/>
          <p:cNvSpPr/>
          <p:nvPr/>
        </p:nvSpPr>
        <p:spPr>
          <a:xfrm>
            <a:off x="6731000" y="2387501"/>
            <a:ext cx="447370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F2D27"/>
                </a:solidFill>
                <a:latin typeface="Nunito" pitchFamily="34" charset="0"/>
                <a:ea typeface="Nunito" pitchFamily="34" charset="-122"/>
                <a:cs typeface="Nunito" pitchFamily="34" charset="-120"/>
              </a:rPr>
              <a:t>👍 👍 ❤️</a:t>
            </a:r>
            <a:endParaRPr lang="en-US" sz="1600" dirty="0"/>
          </a:p>
        </p:txBody>
      </p:sp>
      <p:sp>
        <p:nvSpPr>
          <p:cNvPr id="11" name="Text 9"/>
          <p:cNvSpPr/>
          <p:nvPr/>
        </p:nvSpPr>
        <p:spPr>
          <a:xfrm>
            <a:off x="6665849" y="2824361"/>
            <a:ext cx="4473702"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B6B63"/>
                </a:solidFill>
                <a:latin typeface="Nunito" pitchFamily="34" charset="0"/>
                <a:ea typeface="Nunito" pitchFamily="34" charset="-122"/>
                <a:cs typeface="Nunito" pitchFamily="34" charset="-120"/>
              </a:rPr>
              <a:t>Friday</a:t>
            </a:r>
            <a:endParaRPr lang="en-US" sz="1200" dirty="0"/>
          </a:p>
        </p:txBody>
      </p:sp>
      <p:sp>
        <p:nvSpPr>
          <p:cNvPr id="12" name="Shape 10"/>
          <p:cNvSpPr/>
          <p:nvPr/>
        </p:nvSpPr>
        <p:spPr>
          <a:xfrm>
            <a:off x="6731000" y="3190081"/>
            <a:ext cx="3810000" cy="843211"/>
          </a:xfrm>
          <a:prstGeom prst="roundRect">
            <a:avLst>
              <a:gd name="adj" fmla="val 10543"/>
            </a:avLst>
          </a:prstGeom>
          <a:solidFill>
            <a:srgbClr val="FBF8F1"/>
          </a:solidFill>
          <a:ln/>
        </p:spPr>
      </p:sp>
      <p:sp>
        <p:nvSpPr>
          <p:cNvPr id="13" name="Text 11"/>
          <p:cNvSpPr/>
          <p:nvPr/>
        </p:nvSpPr>
        <p:spPr>
          <a:xfrm>
            <a:off x="6934200" y="3342481"/>
            <a:ext cx="350570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6B57"/>
                </a:solidFill>
                <a:latin typeface="Nunito" pitchFamily="34" charset="0"/>
                <a:ea typeface="Nunito" pitchFamily="34" charset="-122"/>
                <a:cs typeface="Nunito" pitchFamily="34" charset="-120"/>
              </a:rPr>
              <a:t>Jonah</a:t>
            </a:r>
            <a:endParaRPr lang="en-US" sz="1200" dirty="0"/>
          </a:p>
        </p:txBody>
      </p:sp>
      <p:sp>
        <p:nvSpPr>
          <p:cNvPr id="14" name="Text 12"/>
          <p:cNvSpPr/>
          <p:nvPr/>
        </p:nvSpPr>
        <p:spPr>
          <a:xfrm>
            <a:off x="6934200" y="3606602"/>
            <a:ext cx="3505708" cy="29969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D27"/>
                </a:solidFill>
                <a:latin typeface="Nunito" pitchFamily="34" charset="0"/>
                <a:ea typeface="Nunito" pitchFamily="34" charset="-122"/>
                <a:cs typeface="Nunito" pitchFamily="34" charset="-120"/>
              </a:rPr>
              <a:t>Did anyone take Dad to physio?</a:t>
            </a:r>
            <a:endParaRPr lang="en-US" sz="1600" dirty="0"/>
          </a:p>
        </p:txBody>
      </p:sp>
      <p:sp>
        <p:nvSpPr>
          <p:cNvPr id="15" name="Shape 13"/>
          <p:cNvSpPr/>
          <p:nvPr/>
        </p:nvSpPr>
        <p:spPr>
          <a:xfrm>
            <a:off x="7264400" y="4185692"/>
            <a:ext cx="3810000" cy="843211"/>
          </a:xfrm>
          <a:prstGeom prst="roundRect">
            <a:avLst>
              <a:gd name="adj" fmla="val 10543"/>
            </a:avLst>
          </a:prstGeom>
          <a:solidFill>
            <a:srgbClr val="FBF8F1"/>
          </a:solidFill>
          <a:ln/>
        </p:spPr>
      </p:sp>
      <p:sp>
        <p:nvSpPr>
          <p:cNvPr id="16" name="Text 14"/>
          <p:cNvSpPr/>
          <p:nvPr/>
        </p:nvSpPr>
        <p:spPr>
          <a:xfrm>
            <a:off x="7467600" y="4338092"/>
            <a:ext cx="350570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6B57"/>
                </a:solidFill>
                <a:latin typeface="Nunito" pitchFamily="34" charset="0"/>
                <a:ea typeface="Nunito" pitchFamily="34" charset="-122"/>
                <a:cs typeface="Nunito" pitchFamily="34" charset="-120"/>
              </a:rPr>
              <a:t>Maya</a:t>
            </a:r>
            <a:endParaRPr lang="en-US" sz="1200" dirty="0"/>
          </a:p>
        </p:txBody>
      </p:sp>
      <p:sp>
        <p:nvSpPr>
          <p:cNvPr id="17" name="Text 15"/>
          <p:cNvSpPr/>
          <p:nvPr/>
        </p:nvSpPr>
        <p:spPr>
          <a:xfrm>
            <a:off x="7467600" y="4602212"/>
            <a:ext cx="3505708" cy="29969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D27"/>
                </a:solidFill>
                <a:latin typeface="Nunito" pitchFamily="34" charset="0"/>
                <a:ea typeface="Nunito" pitchFamily="34" charset="-122"/>
                <a:cs typeface="Nunito" pitchFamily="34" charset="-120"/>
              </a:rPr>
              <a:t>I thought you were going.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813816" y="813816"/>
            <a:ext cx="9811512" cy="1097280"/>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2F6B57"/>
                </a:solidFill>
                <a:latin typeface="Nunito" pitchFamily="34" charset="0"/>
                <a:ea typeface="Nunito" pitchFamily="34" charset="-122"/>
                <a:cs typeface="Nunito" pitchFamily="34" charset="-120"/>
              </a:rPr>
              <a:t>37%</a:t>
            </a:r>
            <a:r>
              <a:rPr lang="en-US" sz="3600" b="1" dirty="0">
                <a:solidFill>
                  <a:srgbClr val="1F2D27"/>
                </a:solidFill>
                <a:latin typeface="Nunito" pitchFamily="34" charset="0"/>
                <a:ea typeface="Nunito" pitchFamily="34" charset="-122"/>
                <a:cs typeface="Nunito" pitchFamily="34" charset="-120"/>
              </a:rPr>
              <a:t> of family caregivers spend 11+ hours a week just coordinating care.</a:t>
            </a:r>
            <a:endParaRPr lang="en-US" sz="3600" dirty="0"/>
          </a:p>
        </p:txBody>
      </p:sp>
      <p:sp>
        <p:nvSpPr>
          <p:cNvPr id="3" name="Subtitle"/>
          <p:cNvSpPr txBox="1"/>
          <p:nvPr/>
        </p:nvSpPr>
        <p:spPr>
          <a:xfrm>
            <a:off x="813816" y="2011680"/>
            <a:ext cx="10058400" cy="31089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Before any hands-on care. From a 2026 survey of 272 US family caregivers.</a:t>
            </a:r>
            <a:endParaRPr lang="en-US" sz="1600" dirty="0"/>
          </a:p>
        </p:txBody>
      </p:sp>
      <p:sp>
        <p:nvSpPr>
          <p:cNvPr id="4" name="Rule 0"/>
          <p:cNvSpPr/>
          <p:nvPr/>
        </p:nvSpPr>
        <p:spPr>
          <a:xfrm>
            <a:off x="813816" y="2606040"/>
            <a:ext cx="10564063" cy="0"/>
          </a:xfrm>
          <a:prstGeom prst="line">
            <a:avLst/>
          </a:prstGeom>
          <a:noFill/>
          <a:ln w="12700">
            <a:solidFill>
              <a:srgbClr val="8CC3AC"/>
            </a:solidFill>
            <a:prstDash val="solid"/>
          </a:ln>
        </p:spPr>
      </p:sp>
      <p:sp>
        <p:nvSpPr>
          <p:cNvPr id="5" name="Stat 1"/>
          <p:cNvSpPr txBox="1"/>
          <p:nvPr/>
        </p:nvSpPr>
        <p:spPr>
          <a:xfrm>
            <a:off x="813816" y="2743200"/>
            <a:ext cx="2103120" cy="667512"/>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2F6B57"/>
                </a:solidFill>
                <a:latin typeface="Nunito" pitchFamily="34" charset="0"/>
                <a:ea typeface="Nunito" pitchFamily="34" charset="-122"/>
                <a:cs typeface="Nunito" pitchFamily="34" charset="-120"/>
              </a:rPr>
              <a:t>1 in 3</a:t>
            </a:r>
            <a:endParaRPr lang="en-US" sz="3600" dirty="0"/>
          </a:p>
        </p:txBody>
      </p:sp>
      <p:sp>
        <p:nvSpPr>
          <p:cNvPr id="6" name="Label 1"/>
          <p:cNvSpPr txBox="1"/>
          <p:nvPr/>
        </p:nvSpPr>
        <p:spPr>
          <a:xfrm>
            <a:off x="3054096" y="2926080"/>
            <a:ext cx="8323783" cy="31089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say their care feels fragmented</a:t>
            </a:r>
            <a:endParaRPr lang="en-US" sz="1600" dirty="0"/>
          </a:p>
        </p:txBody>
      </p:sp>
      <p:sp>
        <p:nvSpPr>
          <p:cNvPr id="7" name="Rule 1"/>
          <p:cNvSpPr/>
          <p:nvPr/>
        </p:nvSpPr>
        <p:spPr>
          <a:xfrm>
            <a:off x="813816" y="3520440"/>
            <a:ext cx="10564063" cy="0"/>
          </a:xfrm>
          <a:prstGeom prst="line">
            <a:avLst/>
          </a:prstGeom>
          <a:noFill/>
          <a:ln w="12700">
            <a:solidFill>
              <a:srgbClr val="8CC3AC"/>
            </a:solidFill>
            <a:prstDash val="solid"/>
          </a:ln>
        </p:spPr>
      </p:sp>
      <p:sp>
        <p:nvSpPr>
          <p:cNvPr id="8" name="Stat 2"/>
          <p:cNvSpPr txBox="1"/>
          <p:nvPr/>
        </p:nvSpPr>
        <p:spPr>
          <a:xfrm>
            <a:off x="813816" y="3657600"/>
            <a:ext cx="2103120" cy="667512"/>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2F6B57"/>
                </a:solidFill>
                <a:latin typeface="Nunito" pitchFamily="34" charset="0"/>
                <a:ea typeface="Nunito" pitchFamily="34" charset="-122"/>
                <a:cs typeface="Nunito" pitchFamily="34" charset="-120"/>
              </a:rPr>
              <a:t>26%</a:t>
            </a:r>
            <a:endParaRPr lang="en-US" sz="3600" dirty="0"/>
          </a:p>
        </p:txBody>
      </p:sp>
      <p:sp>
        <p:nvSpPr>
          <p:cNvPr id="9" name="Label 2"/>
          <p:cNvSpPr txBox="1"/>
          <p:nvPr/>
        </p:nvSpPr>
        <p:spPr>
          <a:xfrm>
            <a:off x="3054096" y="3840480"/>
            <a:ext cx="8323783" cy="31089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say coordinating care and family updates is where tech could help most</a:t>
            </a:r>
            <a:endParaRPr lang="en-US" sz="1600" dirty="0"/>
          </a:p>
        </p:txBody>
      </p:sp>
      <p:sp>
        <p:nvSpPr>
          <p:cNvPr id="10" name="Rule 2"/>
          <p:cNvSpPr/>
          <p:nvPr/>
        </p:nvSpPr>
        <p:spPr>
          <a:xfrm>
            <a:off x="813816" y="4434840"/>
            <a:ext cx="10564063" cy="0"/>
          </a:xfrm>
          <a:prstGeom prst="line">
            <a:avLst/>
          </a:prstGeom>
          <a:noFill/>
          <a:ln w="12700">
            <a:solidFill>
              <a:srgbClr val="8CC3AC"/>
            </a:solidFill>
            <a:prstDash val="solid"/>
          </a:ln>
        </p:spPr>
      </p:sp>
      <p:sp>
        <p:nvSpPr>
          <p:cNvPr id="11" name="Stat 3"/>
          <p:cNvSpPr txBox="1"/>
          <p:nvPr/>
        </p:nvSpPr>
        <p:spPr>
          <a:xfrm>
            <a:off x="813816" y="4572000"/>
            <a:ext cx="2103120" cy="667512"/>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2F6B57"/>
                </a:solidFill>
                <a:latin typeface="Nunito" pitchFamily="34" charset="0"/>
                <a:ea typeface="Nunito" pitchFamily="34" charset="-122"/>
                <a:cs typeface="Nunito" pitchFamily="34" charset="-120"/>
              </a:rPr>
              <a:t>90%</a:t>
            </a:r>
            <a:endParaRPr lang="en-US" sz="3600" dirty="0"/>
          </a:p>
        </p:txBody>
      </p:sp>
      <p:sp>
        <p:nvSpPr>
          <p:cNvPr id="12" name="Label 3"/>
          <p:cNvSpPr txBox="1"/>
          <p:nvPr/>
        </p:nvSpPr>
        <p:spPr>
          <a:xfrm>
            <a:off x="3054096" y="4754880"/>
            <a:ext cx="8323783" cy="31089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already use at least one digital tool for caregiving</a:t>
            </a:r>
            <a:endParaRPr lang="en-US" sz="1600" dirty="0"/>
          </a:p>
        </p:txBody>
      </p:sp>
      <p:sp>
        <p:nvSpPr>
          <p:cNvPr id="13" name="Rule 3"/>
          <p:cNvSpPr/>
          <p:nvPr/>
        </p:nvSpPr>
        <p:spPr>
          <a:xfrm>
            <a:off x="813816" y="5349240"/>
            <a:ext cx="10564063" cy="0"/>
          </a:xfrm>
          <a:prstGeom prst="line">
            <a:avLst/>
          </a:prstGeom>
          <a:noFill/>
          <a:ln w="12700">
            <a:solidFill>
              <a:srgbClr val="8CC3AC"/>
            </a:solidFill>
            <a:prstDash val="solid"/>
          </a:ln>
        </p:spPr>
      </p:sp>
      <p:sp>
        <p:nvSpPr>
          <p:cNvPr id="14" name="Sources"/>
          <p:cNvSpPr txBox="1"/>
          <p:nvPr/>
        </p:nvSpPr>
        <p:spPr>
          <a:xfrm>
            <a:off x="813816" y="5577840"/>
            <a:ext cx="10607040" cy="23774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Caregiver Action Network, Caregiver Tech Insights Survey: Findings Report 2026 (272 US family caregivers, ±5.94%).</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What caregivers need, and what we built</a:t>
            </a:r>
            <a:endParaRPr lang="en-US" sz="3600" dirty="0"/>
          </a:p>
        </p:txBody>
      </p:sp>
      <p:sp>
        <p:nvSpPr>
          <p:cNvPr id="3" name="Shape 1"/>
          <p:cNvSpPr/>
          <p:nvPr/>
        </p:nvSpPr>
        <p:spPr>
          <a:xfrm>
            <a:off x="812800" y="1677640"/>
            <a:ext cx="10566400" cy="0"/>
          </a:xfrm>
          <a:prstGeom prst="line">
            <a:avLst/>
          </a:prstGeom>
          <a:noFill/>
          <a:ln w="12700">
            <a:solidFill>
              <a:srgbClr val="141413">
                <a:alpha val="22000"/>
              </a:srgbClr>
            </a:solidFill>
            <a:prstDash val="solid"/>
          </a:ln>
        </p:spPr>
      </p:sp>
      <p:sp>
        <p:nvSpPr>
          <p:cNvPr id="4" name="Shape 2"/>
          <p:cNvSpPr/>
          <p:nvPr/>
        </p:nvSpPr>
        <p:spPr>
          <a:xfrm>
            <a:off x="819150" y="1671290"/>
            <a:ext cx="0" cy="2074863"/>
          </a:xfrm>
          <a:prstGeom prst="line">
            <a:avLst/>
          </a:prstGeom>
          <a:noFill/>
          <a:ln w="12700">
            <a:solidFill>
              <a:srgbClr val="141413">
                <a:alpha val="22000"/>
              </a:srgbClr>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77900" y="1836390"/>
          <a:ext cx="10248900" cy="1757364"/>
        </p:xfrm>
        <a:graphic>
          <a:graphicData uri="http://schemas.openxmlformats.org/drawingml/2006/table">
            <a:tbl>
              <a:tblPr/>
              <a:tblGrid>
                <a:gridCol w="5124450">
                  <a:extLst>
                    <a:ext uri="{9D8B030D-6E8A-4147-A177-3AD203B41FA5}">
                      <a16:colId xmlns:a16="http://schemas.microsoft.com/office/drawing/2014/main" val="20000"/>
                    </a:ext>
                  </a:extLst>
                </a:gridCol>
                <a:gridCol w="5124450">
                  <a:extLst>
                    <a:ext uri="{9D8B030D-6E8A-4147-A177-3AD203B41FA5}">
                      <a16:colId xmlns:a16="http://schemas.microsoft.com/office/drawing/2014/main" val="20001"/>
                    </a:ext>
                  </a:extLst>
                </a:gridCol>
              </a:tblGrid>
              <a:tr h="439341">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Caregivers said (2026 US survey)</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We built</a:t>
                      </a:r>
                      <a:endParaRPr lang="en-US" sz="1600" dirty="0">
                        <a:latin typeface="Nunito" charset="0"/>
                        <a:ea typeface="Nunito" charset="0"/>
                        <a:cs typeface="Nunito" charset="0"/>
                      </a:endParaRPr>
                    </a:p>
                  </a:txBody>
                  <a:tcPr marL="71120" marR="71120" marT="71120" marB="71120">
                    <a:lnL w="12700" cap="flat" cmpd="sng" algn="ctr">
                      <a:solidFill>
                        <a:srgbClr val="B9C1BC"/>
                      </a:solidFill>
                      <a:prstDash val="solid"/>
                      <a:round/>
                      <a:headEnd type="none" w="med" len="med"/>
                      <a:tailEnd type="none" w="med" len="med"/>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extLst>
                  <a:ext uri="{0D108BD9-81ED-4DB2-BD59-A6C34878D82A}">
                    <a16:rowId xmlns:a16="http://schemas.microsoft.com/office/drawing/2014/main" val="10000"/>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Appointments and medications take the most time</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Reminders before every appointment and due task</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1"/>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There’s little or no backup when they can’t make it</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Ask for cover in one tap, shared to the family chat</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2"/>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Information is scattered across too many systems</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 weekly summary of who did what</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3"/>
          <p:cNvSpPr/>
          <p:nvPr/>
        </p:nvSpPr>
        <p:spPr>
          <a:xfrm>
            <a:off x="812800" y="4480560"/>
            <a:ext cx="10883392" cy="914400"/>
          </a:xfrm>
          <a:prstGeom prst="rect">
            <a:avLst/>
          </a:prstGeom>
          <a:noFill/>
          <a:ln/>
        </p:spPr>
        <p:txBody>
          <a:bodyPr wrap="square" lIns="0" tIns="0" rIns="0" bIns="0" rtlCol="0" anchor="t">
            <a:normAutofit/>
          </a:bodyPr>
          <a:lstStyle/>
          <a:p>
            <a:pPr marL="0" indent="0" algn="l">
              <a:lnSpc>
                <a:spcPts val="2240"/>
              </a:lnSpc>
              <a:spcBef>
                <a:spcPts val="0"/>
              </a:spcBef>
              <a:buNone/>
            </a:pPr>
            <a:r>
              <a:rPr lang="en-US" sz="1600" i="1" dirty="0">
                <a:solidFill>
                  <a:srgbClr val="3D4D46"/>
                </a:solidFill>
                <a:latin typeface="Nunito" pitchFamily="34" charset="0"/>
                <a:ea typeface="Nunito" pitchFamily="34" charset="-122"/>
                <a:cs typeface="Nunito" pitchFamily="34" charset="-120"/>
              </a:rPr>
              <a:t>“The most stressful part of caregiving is trying to coordinate everything at once, appointments, medications, and daily care, while still managing my own responsibilities.”</a:t>
            </a:r>
            <a:endParaRPr lang="en-US" sz="1600" dirty="0"/>
          </a:p>
          <a:p>
            <a:pPr marL="0" indent="0" algn="l">
              <a:lnSpc>
                <a:spcPts val="1680"/>
              </a:lnSpc>
              <a:spcBef>
                <a:spcPts val="0"/>
              </a:spcBef>
              <a:buNone/>
            </a:pPr>
            <a:r>
              <a:rPr lang="en-US" sz="1200" dirty="0">
                <a:solidFill>
                  <a:srgbClr val="5B6B63"/>
                </a:solidFill>
                <a:latin typeface="Nunito" pitchFamily="34" charset="0"/>
                <a:ea typeface="Nunito" pitchFamily="34" charset="-122"/>
                <a:cs typeface="Nunito" pitchFamily="34" charset="-120"/>
              </a:rPr>
              <a:t>A family caregiver in Caregiver Action Network’s 2026 survey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6B57"/>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464800" cy="1366441"/>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BF8F1"/>
                </a:solidFill>
                <a:latin typeface="Nunito" pitchFamily="34" charset="0"/>
                <a:ea typeface="Nunito" pitchFamily="34" charset="-122"/>
                <a:cs typeface="Nunito" pitchFamily="34" charset="-120"/>
              </a:rPr>
              <a:t>A chat records what was said. Kindred records who said yes.</a:t>
            </a:r>
            <a:endParaRPr lang="en-US" sz="4800" dirty="0"/>
          </a:p>
        </p:txBody>
      </p:sp>
      <p:sp>
        <p:nvSpPr>
          <p:cNvPr id="3" name="Shape 1"/>
          <p:cNvSpPr/>
          <p:nvPr/>
        </p:nvSpPr>
        <p:spPr>
          <a:xfrm>
            <a:off x="812800" y="4064000"/>
            <a:ext cx="6985000" cy="1270000"/>
          </a:xfrm>
          <a:prstGeom prst="roundRect">
            <a:avLst>
              <a:gd name="adj" fmla="val 7000"/>
            </a:avLst>
          </a:prstGeom>
          <a:solidFill>
            <a:srgbClr val="FBF8F1"/>
          </a:solidFill>
          <a:ln/>
        </p:spPr>
      </p:sp>
      <p:sp>
        <p:nvSpPr>
          <p:cNvPr id="4" name="Text 2"/>
          <p:cNvSpPr/>
          <p:nvPr/>
        </p:nvSpPr>
        <p:spPr>
          <a:xfrm>
            <a:off x="1117600" y="4373910"/>
            <a:ext cx="5441696"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F2D27"/>
                </a:solidFill>
                <a:latin typeface="Nunito" pitchFamily="34" charset="0"/>
                <a:ea typeface="Nunito" pitchFamily="34" charset="-122"/>
                <a:cs typeface="Nunito" pitchFamily="34" charset="-120"/>
              </a:rPr>
              <a:t>Take Dad to physio</a:t>
            </a:r>
            <a:endParaRPr lang="en-US" sz="2200" dirty="0"/>
          </a:p>
        </p:txBody>
      </p:sp>
      <p:sp>
        <p:nvSpPr>
          <p:cNvPr id="5" name="Text 3"/>
          <p:cNvSpPr/>
          <p:nvPr/>
        </p:nvSpPr>
        <p:spPr>
          <a:xfrm>
            <a:off x="1117600" y="4759970"/>
            <a:ext cx="5441696"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8A5A12"/>
                </a:solidFill>
                <a:latin typeface="Nunito" pitchFamily="34" charset="0"/>
                <a:ea typeface="Nunito" pitchFamily="34" charset="-122"/>
                <a:cs typeface="Nunito" pitchFamily="34" charset="-120"/>
              </a:rPr>
              <a:t>Thursday, 2:00 pm · Nobody has claimed this</a:t>
            </a:r>
            <a:endParaRPr lang="en-US" sz="1600" dirty="0"/>
          </a:p>
        </p:txBody>
      </p:sp>
      <p:sp>
        <p:nvSpPr>
          <p:cNvPr id="6" name="Text 4"/>
          <p:cNvSpPr/>
          <p:nvPr/>
        </p:nvSpPr>
        <p:spPr>
          <a:xfrm>
            <a:off x="6743700" y="4330700"/>
            <a:ext cx="736600" cy="736600"/>
          </a:xfrm>
          <a:prstGeom prst="roundRect">
            <a:avLst>
              <a:gd name="adj" fmla="val 50000"/>
            </a:avLst>
          </a:prstGeom>
          <a:noFill/>
          <a:ln w="25400">
            <a:solidFill>
              <a:srgbClr val="E9A23B"/>
            </a:solidFill>
            <a:prstDash val="dash"/>
          </a:ln>
        </p:spPr>
        <p:txBody>
          <a:bodyPr wrap="square" lIns="0" tIns="0" rIns="0" bIns="0" rtlCol="0" anchor="ctr">
            <a:normAutofit/>
          </a:bodyPr>
          <a:lstStyle/>
          <a:p>
            <a:pPr marL="0" indent="0" algn="ctr">
              <a:lnSpc>
                <a:spcPts val="3080"/>
              </a:lnSpc>
              <a:buNone/>
            </a:pPr>
            <a:r>
              <a:rPr lang="en-US" sz="2200" b="1" dirty="0">
                <a:solidFill>
                  <a:srgbClr val="1F2D27"/>
                </a:solidFill>
                <a:latin typeface="Nunito" pitchFamily="34" charset="0"/>
                <a:ea typeface="Nunito" pitchFamily="34" charset="-122"/>
                <a:cs typeface="Nunito" pitchFamily="34" charset="-120"/>
              </a:rPr>
              <a:t>?</a:t>
            </a:r>
            <a:endParaRPr lang="en-US" sz="2200" dirty="0"/>
          </a:p>
        </p:txBody>
      </p:sp>
      <p:sp>
        <p:nvSpPr>
          <p:cNvPr id="7" name="Text 5"/>
          <p:cNvSpPr/>
          <p:nvPr/>
        </p:nvSpPr>
        <p:spPr>
          <a:xfrm>
            <a:off x="1117600" y="4756150"/>
            <a:ext cx="5207000" cy="264120"/>
          </a:xfrm>
          <a:prstGeom prst="rect">
            <a:avLst/>
          </a:prstGeom>
          <a:solidFill>
            <a:srgbClr val="FBF8F1"/>
          </a:solidFill>
          <a:ln/>
        </p:spPr>
        <p:txBody>
          <a:bodyPr wrap="square" lIns="0" tIns="0" rIns="0" bIns="0" rtlCol="0" anchor="t">
            <a:normAutofit/>
          </a:bodyPr>
          <a:lstStyle/>
          <a:p>
            <a:pPr marL="0" indent="0" algn="l">
              <a:lnSpc>
                <a:spcPts val="2080"/>
              </a:lnSpc>
              <a:buNone/>
            </a:pPr>
            <a:r>
              <a:rPr lang="en-US" sz="1600" dirty="0">
                <a:solidFill>
                  <a:srgbClr val="2F6B57"/>
                </a:solidFill>
                <a:latin typeface="Nunito" pitchFamily="34" charset="0"/>
                <a:ea typeface="Nunito" pitchFamily="34" charset="-122"/>
                <a:cs typeface="Nunito" pitchFamily="34" charset="-120"/>
              </a:rPr>
              <a:t>Thursday, 2:00 pm · Maya claimed this on Tuesday</a:t>
            </a:r>
            <a:endParaRPr lang="en-US" sz="1600" dirty="0"/>
          </a:p>
        </p:txBody>
      </p:sp>
      <p:sp>
        <p:nvSpPr>
          <p:cNvPr id="8" name="Text 6"/>
          <p:cNvSpPr/>
          <p:nvPr/>
        </p:nvSpPr>
        <p:spPr>
          <a:xfrm>
            <a:off x="6743700" y="4330700"/>
            <a:ext cx="736600" cy="736600"/>
          </a:xfrm>
          <a:prstGeom prst="roundRect">
            <a:avLst>
              <a:gd name="adj" fmla="val 50000"/>
            </a:avLst>
          </a:prstGeom>
          <a:solidFill>
            <a:srgbClr val="2F6B57"/>
          </a:solidFill>
          <a:ln w="25400">
            <a:solidFill>
              <a:srgbClr val="2F6B57"/>
            </a:solidFill>
            <a:prstDash val="solid"/>
          </a:ln>
        </p:spPr>
        <p:txBody>
          <a:bodyPr wrap="square" lIns="0" tIns="0" rIns="0" bIns="0" rtlCol="0" anchor="ctr">
            <a:normAutofit/>
          </a:bodyPr>
          <a:lstStyle/>
          <a:p>
            <a:pPr marL="0" indent="0" algn="ctr">
              <a:lnSpc>
                <a:spcPts val="3080"/>
              </a:lnSpc>
              <a:buNone/>
            </a:pPr>
            <a:r>
              <a:rPr lang="en-US" sz="2200" b="1" dirty="0">
                <a:solidFill>
                  <a:srgbClr val="FBF8F1"/>
                </a:solidFill>
                <a:latin typeface="Nunito" pitchFamily="34" charset="0"/>
                <a:ea typeface="Nunito" pitchFamily="34" charset="-122"/>
                <a:cs typeface="Nunito" pitchFamily="34" charset="-120"/>
              </a:rPr>
              <a:t>M</a:t>
            </a:r>
            <a:endParaRPr lang="en-US" sz="2200" dirty="0"/>
          </a:p>
        </p:txBody>
      </p:sp>
      <p:sp>
        <p:nvSpPr>
          <p:cNvPr id="9" name="Text 7"/>
          <p:cNvSpPr/>
          <p:nvPr/>
        </p:nvSpPr>
        <p:spPr>
          <a:xfrm>
            <a:off x="8255000" y="4318000"/>
            <a:ext cx="3217926"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7F2EC"/>
                </a:solidFill>
                <a:latin typeface="Nunito" pitchFamily="34" charset="0"/>
                <a:ea typeface="Nunito" pitchFamily="34" charset="-122"/>
                <a:cs typeface="Nunito" pitchFamily="34" charset="-120"/>
              </a:rPr>
              <a:t>Every task has a named owner, so care stops slipping and no one carries it alone.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4656836"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Simple enough for every relative</a:t>
            </a:r>
            <a:endParaRPr lang="en-US" sz="3600" dirty="0"/>
          </a:p>
        </p:txBody>
      </p:sp>
      <p:sp>
        <p:nvSpPr>
          <p:cNvPr id="3" name="Text 1"/>
          <p:cNvSpPr/>
          <p:nvPr/>
        </p:nvSpPr>
        <p:spPr>
          <a:xfrm>
            <a:off x="812800" y="2123380"/>
            <a:ext cx="465683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Claim, don't assign</a:t>
            </a:r>
            <a:endParaRPr lang="en-US" sz="1600" dirty="0"/>
          </a:p>
        </p:txBody>
      </p:sp>
      <p:sp>
        <p:nvSpPr>
          <p:cNvPr id="4" name="Text 2"/>
          <p:cNvSpPr/>
          <p:nvPr/>
        </p:nvSpPr>
        <p:spPr>
          <a:xfrm>
            <a:off x="812800" y="2392611"/>
            <a:ext cx="4656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It isn't yours until you accept.</a:t>
            </a:r>
            <a:endParaRPr lang="en-US" sz="1200" dirty="0"/>
          </a:p>
        </p:txBody>
      </p:sp>
      <p:sp>
        <p:nvSpPr>
          <p:cNvPr id="5" name="Text 3"/>
          <p:cNvSpPr/>
          <p:nvPr/>
        </p:nvSpPr>
        <p:spPr>
          <a:xfrm>
            <a:off x="812800" y="2809131"/>
            <a:ext cx="465683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One tap: yes or no</a:t>
            </a:r>
            <a:endParaRPr lang="en-US" sz="1600" dirty="0"/>
          </a:p>
        </p:txBody>
      </p:sp>
      <p:sp>
        <p:nvSpPr>
          <p:cNvPr id="6" name="Text 4"/>
          <p:cNvSpPr/>
          <p:nvPr/>
        </p:nvSpPr>
        <p:spPr>
          <a:xfrm>
            <a:off x="812800" y="3078361"/>
            <a:ext cx="4656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Helpers join free and just tap Accept.</a:t>
            </a:r>
            <a:endParaRPr lang="en-US" sz="1200" dirty="0"/>
          </a:p>
        </p:txBody>
      </p:sp>
      <p:sp>
        <p:nvSpPr>
          <p:cNvPr id="7" name="Text 5"/>
          <p:cNvSpPr/>
          <p:nvPr/>
        </p:nvSpPr>
        <p:spPr>
          <a:xfrm>
            <a:off x="812800" y="3494881"/>
            <a:ext cx="465683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Work with the chat</a:t>
            </a:r>
            <a:endParaRPr lang="en-US" sz="1600" dirty="0"/>
          </a:p>
        </p:txBody>
      </p:sp>
      <p:sp>
        <p:nvSpPr>
          <p:cNvPr id="8" name="Text 6"/>
          <p:cNvSpPr/>
          <p:nvPr/>
        </p:nvSpPr>
        <p:spPr>
          <a:xfrm>
            <a:off x="812800" y="3764111"/>
            <a:ext cx="4656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Share requests to WhatsApp. Sync with Google Calendar.</a:t>
            </a:r>
            <a:endParaRPr lang="en-US" sz="1200" dirty="0"/>
          </a:p>
        </p:txBody>
      </p:sp>
      <p:sp>
        <p:nvSpPr>
          <p:cNvPr id="9" name="Text 7"/>
          <p:cNvSpPr/>
          <p:nvPr/>
        </p:nvSpPr>
        <p:spPr>
          <a:xfrm>
            <a:off x="812800" y="4180632"/>
            <a:ext cx="465683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Never clinical</a:t>
            </a:r>
            <a:endParaRPr lang="en-US" sz="1600" dirty="0"/>
          </a:p>
        </p:txBody>
      </p:sp>
      <p:sp>
        <p:nvSpPr>
          <p:cNvPr id="10" name="Text 8"/>
          <p:cNvSpPr/>
          <p:nvPr/>
        </p:nvSpPr>
        <p:spPr>
          <a:xfrm>
            <a:off x="812800" y="4449862"/>
            <a:ext cx="4656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Kindred coordinates care. It gives no medical advice.</a:t>
            </a:r>
            <a:endParaRPr lang="en-US" sz="1200" dirty="0"/>
          </a:p>
        </p:txBody>
      </p:sp>
      <p:sp>
        <p:nvSpPr>
          <p:cNvPr id="11" name="Shape 9"/>
          <p:cNvSpPr/>
          <p:nvPr/>
        </p:nvSpPr>
        <p:spPr>
          <a:xfrm>
            <a:off x="5740400" y="1950414"/>
            <a:ext cx="1778000" cy="2957172"/>
          </a:xfrm>
          <a:prstGeom prst="roundRect">
            <a:avLst>
              <a:gd name="adj" fmla="val 7857"/>
            </a:avLst>
          </a:prstGeom>
          <a:solidFill>
            <a:srgbClr val="E7F2EC"/>
          </a:solidFill>
          <a:ln/>
        </p:spPr>
      </p:sp>
      <p:pic>
        <p:nvPicPr>
          <p:cNvPr id="12" name="Image 0" descr="The Kindred app: a request to take Dad to physio, with Accept and Decline buttons"/>
          <p:cNvPicPr>
            <a:picLocks noChangeAspect="1"/>
          </p:cNvPicPr>
          <p:nvPr/>
        </p:nvPicPr>
        <p:blipFill>
          <a:blip r:embed="rId3"/>
          <a:stretch>
            <a:fillRect/>
          </a:stretch>
        </p:blipFill>
        <p:spPr>
          <a:xfrm>
            <a:off x="5813552" y="2023566"/>
            <a:ext cx="1631696" cy="2810868"/>
          </a:xfrm>
          <a:prstGeom prst="roundRect">
            <a:avLst>
              <a:gd name="adj" fmla="val 4000"/>
            </a:avLst>
          </a:prstGeom>
        </p:spPr>
      </p:pic>
      <p:sp>
        <p:nvSpPr>
          <p:cNvPr id="13" name="Shape 10"/>
          <p:cNvSpPr/>
          <p:nvPr/>
        </p:nvSpPr>
        <p:spPr>
          <a:xfrm>
            <a:off x="7670800" y="1950414"/>
            <a:ext cx="1778000" cy="2957172"/>
          </a:xfrm>
          <a:prstGeom prst="roundRect">
            <a:avLst>
              <a:gd name="adj" fmla="val 7857"/>
            </a:avLst>
          </a:prstGeom>
          <a:solidFill>
            <a:srgbClr val="E7F2EC"/>
          </a:solidFill>
          <a:ln/>
        </p:spPr>
      </p:sp>
      <p:pic>
        <p:nvPicPr>
          <p:cNvPr id="14" name="Image 1" descr="The Kindred app: Maya needs cover for a hearing aid fitting, with an I can do it button"/>
          <p:cNvPicPr>
            <a:picLocks noChangeAspect="1"/>
          </p:cNvPicPr>
          <p:nvPr/>
        </p:nvPicPr>
        <p:blipFill>
          <a:blip r:embed="rId4"/>
          <a:stretch>
            <a:fillRect/>
          </a:stretch>
        </p:blipFill>
        <p:spPr>
          <a:xfrm>
            <a:off x="7743952" y="2023566"/>
            <a:ext cx="1631696" cy="2810868"/>
          </a:xfrm>
          <a:prstGeom prst="roundRect">
            <a:avLst>
              <a:gd name="adj" fmla="val 4000"/>
            </a:avLst>
          </a:prstGeom>
        </p:spPr>
      </p:pic>
      <p:sp>
        <p:nvSpPr>
          <p:cNvPr id="15" name="Shape 11"/>
          <p:cNvSpPr/>
          <p:nvPr/>
        </p:nvSpPr>
        <p:spPr>
          <a:xfrm>
            <a:off x="9601200" y="1950414"/>
            <a:ext cx="1778000" cy="2957172"/>
          </a:xfrm>
          <a:prstGeom prst="roundRect">
            <a:avLst>
              <a:gd name="adj" fmla="val 7857"/>
            </a:avLst>
          </a:prstGeom>
          <a:solidFill>
            <a:srgbClr val="E7F2EC"/>
          </a:solidFill>
          <a:ln/>
        </p:spPr>
      </p:sp>
      <p:pic>
        <p:nvPicPr>
          <p:cNvPr id="16" name="Image 2" descr="The Kindred app: Jonah's Home screen, with this week's tasks, appointments and what's overdue"/>
          <p:cNvPicPr>
            <a:picLocks noChangeAspect="1"/>
          </p:cNvPicPr>
          <p:nvPr/>
        </p:nvPicPr>
        <p:blipFill>
          <a:blip r:embed="rId5"/>
          <a:stretch>
            <a:fillRect/>
          </a:stretch>
        </p:blipFill>
        <p:spPr>
          <a:xfrm>
            <a:off x="9674352" y="2023566"/>
            <a:ext cx="1631696" cy="2810868"/>
          </a:xfrm>
          <a:custGeom>
            <a:avLst/>
            <a:gdLst/>
            <a:ahLst/>
            <a:cxnLst/>
            <a:rect l="l" t="t" r="r" b="b"/>
            <a:pathLst>
              <a:path w="1778000" h="5106051">
                <a:moveTo>
                  <a:pt x="0" y="76526"/>
                </a:moveTo>
                <a:arcTo wR="139700" hR="139700" stAng="10800000" swAng="1992913"/>
                <a:lnTo>
                  <a:pt x="1755176" y="0"/>
                </a:lnTo>
                <a:arcTo wR="139700" hR="139700" stAng="19607087" swAng="1992913"/>
                <a:lnTo>
                  <a:pt x="1778000" y="5029526"/>
                </a:lnTo>
                <a:arcTo wR="139700" hR="139700" stAng="0" swAng="1992913"/>
                <a:lnTo>
                  <a:pt x="22824" y="5106051"/>
                </a:lnTo>
                <a:arcTo wR="139700" hR="139700" stAng="8807087" swAng="1992913"/>
                <a:close/>
              </a:path>
            </a:pathLst>
          </a:cu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7F2EC"/>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5467858"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The core loop, on two phones</a:t>
            </a:r>
            <a:endParaRPr lang="en-US" sz="3600" dirty="0"/>
          </a:p>
        </p:txBody>
      </p:sp>
      <p:sp>
        <p:nvSpPr>
          <p:cNvPr id="3" name="Text 1"/>
          <p:cNvSpPr/>
          <p:nvPr/>
        </p:nvSpPr>
        <p:spPr>
          <a:xfrm>
            <a:off x="846038" y="2123380"/>
            <a:ext cx="5427000" cy="1975941"/>
          </a:xfrm>
          <a:prstGeom prst="rect">
            <a:avLst/>
          </a:prstGeom>
          <a:noFill/>
          <a:ln/>
        </p:spPr>
        <p:txBody>
          <a:bodyPr wrap="square" lIns="0" tIns="0" rIns="0" bIns="0" rtlCol="0" anchor="t">
            <a:normAutofit/>
          </a:bodyPr>
          <a:lstStyle/>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Create a recurring task for Dad</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A sibling claims it</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Plans change: ask for cover</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Share the request to the family chat</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Someone else takes it</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Mark it done, with an update</a:t>
            </a:r>
            <a:endParaRPr lang="en-US" sz="1600" dirty="0"/>
          </a:p>
        </p:txBody>
      </p:sp>
      <p:sp>
        <p:nvSpPr>
          <p:cNvPr id="6" name="Text 3"/>
          <p:cNvSpPr/>
          <p:nvPr/>
        </p:nvSpPr>
        <p:spPr>
          <a:xfrm>
            <a:off x="709060" y="4460962"/>
            <a:ext cx="2145508" cy="2074069"/>
          </a:xfrm>
          <a:prstGeom prst="roundRect">
            <a:avLst>
              <a:gd name="adj" fmla="val 5051"/>
            </a:avLst>
          </a:prstGeom>
          <a:solidFill>
            <a:srgbClr val="FBF8F1"/>
          </a:solidFill>
          <a:ln w="25400">
            <a:solidFill>
              <a:srgbClr val="E9A23B"/>
            </a:solidFill>
            <a:prstDash val="dash"/>
          </a:ln>
        </p:spPr>
        <p:txBody>
          <a:bodyPr wrap="square" lIns="0" tIns="0" rIns="0" bIns="0" rtlCol="0" anchor="ctr">
            <a:normAutofit/>
          </a:bodyPr>
          <a:lstStyle/>
          <a:p>
            <a:pPr marL="0" indent="0" algn="ctr">
              <a:lnSpc>
                <a:spcPts val="2240"/>
              </a:lnSpc>
              <a:buNone/>
            </a:pPr>
            <a:r>
              <a:rPr lang="en-US" sz="1600" b="1" dirty="0">
                <a:solidFill>
                  <a:srgbClr val="8A5A12"/>
                </a:solidFill>
                <a:latin typeface="Nunito" pitchFamily="34" charset="0"/>
                <a:ea typeface="Nunito" pitchFamily="34" charset="-122"/>
                <a:cs typeface="Nunito" pitchFamily="34" charset="-120"/>
              </a:rPr>
              <a:t>[QR code]</a:t>
            </a:r>
            <a:endParaRPr lang="en-US" sz="1600" dirty="0"/>
          </a:p>
        </p:txBody>
      </p:sp>
      <p:sp>
        <p:nvSpPr>
          <p:cNvPr id="7" name="Text 4"/>
          <p:cNvSpPr/>
          <p:nvPr/>
        </p:nvSpPr>
        <p:spPr>
          <a:xfrm>
            <a:off x="3244298" y="5086834"/>
            <a:ext cx="2616200" cy="289520"/>
          </a:xfrm>
          <a:prstGeom prst="rect">
            <a:avLst/>
          </a:prstGeom>
          <a:noFill/>
          <a:ln/>
        </p:spPr>
        <p:txBody>
          <a:bodyPr wrap="square" lIns="0" tIns="0" rIns="0" bIns="0" rtlCol="0" anchor="t">
            <a:normAutofit/>
          </a:bodyPr>
          <a:lstStyle/>
          <a:p>
            <a:pPr marL="0" indent="0" algn="l">
              <a:lnSpc>
                <a:spcPts val="2080"/>
              </a:lnSpc>
              <a:buNone/>
            </a:pPr>
            <a:r>
              <a:rPr lang="en-US" sz="1600" b="1" dirty="0">
                <a:solidFill>
                  <a:srgbClr val="1F2D27"/>
                </a:solidFill>
                <a:latin typeface="Nunito" pitchFamily="34" charset="0"/>
                <a:ea typeface="Nunito" pitchFamily="34" charset="-122"/>
                <a:cs typeface="Nunito" pitchFamily="34" charset="-120"/>
              </a:rPr>
              <a:t>Try it on your phone</a:t>
            </a:r>
            <a:endParaRPr lang="en-US" sz="1600" dirty="0"/>
          </a:p>
        </p:txBody>
      </p:sp>
      <p:sp>
        <p:nvSpPr>
          <p:cNvPr id="8" name="Text 5"/>
          <p:cNvSpPr/>
          <p:nvPr/>
        </p:nvSpPr>
        <p:spPr>
          <a:xfrm>
            <a:off x="3244298" y="5503353"/>
            <a:ext cx="2616200"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5A12"/>
                </a:solidFill>
                <a:latin typeface="Nunito"/>
              </a:rPr>
              <a:t>kindred-care-</a:t>
            </a:r>
            <a:r>
              <a:rPr lang="en-US" sz="1200" dirty="0" err="1">
                <a:solidFill>
                  <a:srgbClr val="8A5A12"/>
                </a:solidFill>
                <a:latin typeface="Nunito"/>
              </a:rPr>
              <a:t>circle.vercel.app</a:t>
            </a:r>
            <a:endParaRPr lang="en-US" dirty="0" err="1"/>
          </a:p>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Tap Try the demo. No account needed.</a:t>
            </a:r>
            <a:endParaRPr lang="en-US" sz="1200" dirty="0"/>
          </a:p>
        </p:txBody>
      </p:sp>
      <p:pic>
        <p:nvPicPr>
          <p:cNvPr id="10" name="kindred-demo-cropped">
            <a:hlinkClick r:id="" action="ppaction://media"/>
            <a:extLst>
              <a:ext uri="{FF2B5EF4-FFF2-40B4-BE49-F238E27FC236}">
                <a16:creationId xmlns:a16="http://schemas.microsoft.com/office/drawing/2014/main" id="{0F999BA7-0672-9D5A-0CF4-40C8E98CEFD2}"/>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976144" y="685800"/>
            <a:ext cx="6215063" cy="5486400"/>
          </a:xfrm>
          <a:prstGeom prst="rect">
            <a:avLst/>
          </a:prstGeom>
        </p:spPr>
      </p:pic>
      <p:pic>
        <p:nvPicPr>
          <p:cNvPr id="11" name="Picture 10">
            <a:extLst>
              <a:ext uri="{FF2B5EF4-FFF2-40B4-BE49-F238E27FC236}">
                <a16:creationId xmlns:a16="http://schemas.microsoft.com/office/drawing/2014/main" id="{DA01B73C-F684-AD24-8C7C-D3F7AAD10C37}"/>
              </a:ext>
            </a:extLst>
          </p:cNvPr>
          <p:cNvPicPr>
            <a:picLocks noChangeAspect="1"/>
          </p:cNvPicPr>
          <p:nvPr/>
        </p:nvPicPr>
        <p:blipFill>
          <a:blip r:embed="rId6"/>
          <a:stretch>
            <a:fillRect/>
          </a:stretch>
        </p:blipFill>
        <p:spPr>
          <a:xfrm>
            <a:off x="808971" y="4572000"/>
            <a:ext cx="1906308" cy="186928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10"/>
                </p:tgtEl>
              </p:cMediaNode>
            </p:video>
            <p:seq concurrent="1" nextAc="seek">
              <p:cTn id="8" restart="whenNotActive" fill="hold" evtFilter="cancelBubble" nodeType="interactiveSeq">
                <p:stCondLst>
                  <p:cond evt="onClick" delay="0">
                    <p:tgtEl>
                      <p:spTgt spid="10"/>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9156700"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The coordinator pays. Everyone they invite is free.</a:t>
            </a:r>
            <a:endParaRPr lang="en-US" sz="3600" dirty="0"/>
          </a:p>
        </p:txBody>
      </p:sp>
      <p:sp>
        <p:nvSpPr>
          <p:cNvPr id="3" name="Text 1"/>
          <p:cNvSpPr/>
          <p:nvPr/>
        </p:nvSpPr>
        <p:spPr>
          <a:xfrm>
            <a:off x="812800" y="3187799"/>
            <a:ext cx="10883392"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2F6B57"/>
                </a:solidFill>
                <a:latin typeface="Nunito" pitchFamily="34" charset="0"/>
                <a:ea typeface="Nunito" pitchFamily="34" charset="-122"/>
                <a:cs typeface="Nunito" pitchFamily="34" charset="-120"/>
              </a:rPr>
              <a:t>$5 a month</a:t>
            </a:r>
            <a:endParaRPr lang="en-US" sz="6000" dirty="0"/>
          </a:p>
        </p:txBody>
      </p:sp>
      <p:sp>
        <p:nvSpPr>
          <p:cNvPr id="4" name="Text 2"/>
          <p:cNvSpPr/>
          <p:nvPr/>
        </p:nvSpPr>
        <p:spPr>
          <a:xfrm>
            <a:off x="812800" y="4051399"/>
            <a:ext cx="784860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for the first 100 founding families, locked in, with a 30-day money-back guarantee and personal setup.</a:t>
            </a:r>
            <a:endParaRPr lang="en-US" sz="1600" dirty="0"/>
          </a:p>
        </p:txBody>
      </p:sp>
      <p:pic>
        <p:nvPicPr>
          <p:cNvPr id="5" name="Image 0" descr="line"/>
          <p:cNvPicPr>
            <a:picLocks noChangeAspect="1"/>
          </p:cNvPicPr>
          <p:nvPr/>
        </p:nvPicPr>
        <p:blipFill>
          <a:blip r:embed="rId3"/>
          <a:srcRect/>
          <a:stretch/>
        </p:blipFill>
        <p:spPr>
          <a:xfrm>
            <a:off x="812800" y="4925120"/>
            <a:ext cx="10566400" cy="12700"/>
          </a:xfrm>
          <a:prstGeom prst="rect">
            <a:avLst/>
          </a:prstGeom>
        </p:spPr>
      </p:pic>
      <p:sp>
        <p:nvSpPr>
          <p:cNvPr id="6" name="Text 3"/>
          <p:cNvSpPr/>
          <p:nvPr/>
        </p:nvSpPr>
        <p:spPr>
          <a:xfrm>
            <a:off x="812800" y="524262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After that, $7 a month or $70 a year per Care Circle. Helpers never pay.</a:t>
            </a:r>
            <a:endParaRPr lang="en-US" sz="1600" dirty="0"/>
          </a:p>
        </p:txBody>
      </p:sp>
      <p:sp>
        <p:nvSpPr>
          <p:cNvPr id="7" name="Text 4"/>
          <p:cNvSpPr/>
          <p:nvPr/>
        </p:nvSpPr>
        <p:spPr>
          <a:xfrm>
            <a:off x="812800" y="58318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Paid from day one, so we learn early whether families value it.</a:t>
            </a:r>
            <a:endParaRPr lang="en-US" sz="1200" dirty="0"/>
          </a:p>
        </p:txBody>
      </p:sp>
      <p:sp>
        <p:nvSpPr>
          <p:cNvPr id="8" name="Evidence"/>
          <p:cNvSpPr txBox="1"/>
          <p:nvPr/>
        </p:nvSpPr>
        <p:spPr>
          <a:xfrm>
            <a:off x="813816" y="2148840"/>
            <a:ext cx="10570464" cy="685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6B57"/>
                </a:solidFill>
                <a:latin typeface="Nunito" pitchFamily="34" charset="0"/>
                <a:ea typeface="Nunito" pitchFamily="34" charset="-122"/>
                <a:cs typeface="Nunito" pitchFamily="34" charset="-120"/>
              </a:rPr>
              <a:t>28%</a:t>
            </a:r>
            <a:r>
              <a:rPr lang="en-US" sz="1600" dirty="0">
                <a:solidFill>
                  <a:srgbClr val="3D4D46"/>
                </a:solidFill>
                <a:latin typeface="Nunito" pitchFamily="34" charset="0"/>
                <a:ea typeface="Nunito" pitchFamily="34" charset="-122"/>
                <a:cs typeface="Nunito" pitchFamily="34" charset="-120"/>
              </a:rPr>
              <a:t> of caregivers would pay $11–25 a month for a tool that reduces their stress. We start at $5.</a:t>
            </a:r>
            <a:endParaRPr lang="en-US" sz="1600" dirty="0"/>
          </a:p>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Caregiver Action Network, Caregiver Tech Insights Survey 2026 (272 US family caregivers)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9810750"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420,000 Canadian families share a parent's care.</a:t>
            </a:r>
            <a:endParaRPr lang="en-US" sz="3600" dirty="0"/>
          </a:p>
        </p:txBody>
      </p:sp>
      <p:sp>
        <p:nvSpPr>
          <p:cNvPr id="3" name="Text 1"/>
          <p:cNvSpPr/>
          <p:nvPr/>
        </p:nvSpPr>
        <p:spPr>
          <a:xfrm>
            <a:off x="812800" y="3022898"/>
            <a:ext cx="26162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~2.2M circles</a:t>
            </a:r>
            <a:endParaRPr lang="en-US" sz="1600" dirty="0"/>
          </a:p>
        </p:txBody>
      </p:sp>
      <p:sp>
        <p:nvSpPr>
          <p:cNvPr id="4" name="Text 2"/>
          <p:cNvSpPr/>
          <p:nvPr/>
        </p:nvSpPr>
        <p:spPr>
          <a:xfrm>
            <a:off x="812800" y="3332758"/>
            <a:ext cx="26162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All unpaid caregivers of adults</a:t>
            </a:r>
            <a:endParaRPr lang="en-US" sz="1200" dirty="0"/>
          </a:p>
        </p:txBody>
      </p:sp>
      <p:sp>
        <p:nvSpPr>
          <p:cNvPr id="5" name="Shape 3"/>
          <p:cNvSpPr/>
          <p:nvPr/>
        </p:nvSpPr>
        <p:spPr>
          <a:xfrm>
            <a:off x="3556000" y="3106688"/>
            <a:ext cx="6096000" cy="355600"/>
          </a:xfrm>
          <a:prstGeom prst="roundRect">
            <a:avLst>
              <a:gd name="adj" fmla="val 14286"/>
            </a:avLst>
          </a:prstGeom>
          <a:solidFill>
            <a:srgbClr val="8CC3AC"/>
          </a:solidFill>
          <a:ln/>
        </p:spPr>
      </p:sp>
      <p:sp>
        <p:nvSpPr>
          <p:cNvPr id="6" name="Text 4"/>
          <p:cNvSpPr/>
          <p:nvPr/>
        </p:nvSpPr>
        <p:spPr>
          <a:xfrm>
            <a:off x="9804400" y="3142258"/>
            <a:ext cx="1574800" cy="309860"/>
          </a:xfrm>
          <a:prstGeom prst="rect">
            <a:avLst/>
          </a:prstGeom>
          <a:noFill/>
          <a:ln/>
        </p:spPr>
        <p:txBody>
          <a:bodyPr wrap="square" lIns="0" tIns="0" rIns="0" bIns="0" rtlCol="0" anchor="t">
            <a:normAutofit/>
          </a:bodyPr>
          <a:lstStyle/>
          <a:p>
            <a:pPr marL="0" indent="0" algn="r">
              <a:lnSpc>
                <a:spcPts val="2240"/>
              </a:lnSpc>
              <a:buNone/>
            </a:pPr>
            <a:r>
              <a:rPr lang="en-US" sz="1600" b="1" dirty="0">
                <a:solidFill>
                  <a:srgbClr val="1F2D27"/>
                </a:solidFill>
                <a:latin typeface="Nunito" pitchFamily="34" charset="0"/>
                <a:ea typeface="Nunito" pitchFamily="34" charset="-122"/>
                <a:cs typeface="Nunito" pitchFamily="34" charset="-120"/>
              </a:rPr>
              <a:t>~$185M</a:t>
            </a:r>
            <a:endParaRPr lang="en-US" sz="1600" dirty="0"/>
          </a:p>
        </p:txBody>
      </p:sp>
      <p:sp>
        <p:nvSpPr>
          <p:cNvPr id="7" name="Text 5"/>
          <p:cNvSpPr/>
          <p:nvPr/>
        </p:nvSpPr>
        <p:spPr>
          <a:xfrm>
            <a:off x="812800" y="3800078"/>
            <a:ext cx="26162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~420K circles</a:t>
            </a:r>
            <a:endParaRPr lang="en-US" sz="1600" dirty="0"/>
          </a:p>
        </p:txBody>
      </p:sp>
      <p:sp>
        <p:nvSpPr>
          <p:cNvPr id="8" name="Text 6"/>
          <p:cNvSpPr/>
          <p:nvPr/>
        </p:nvSpPr>
        <p:spPr>
          <a:xfrm>
            <a:off x="812800" y="4109938"/>
            <a:ext cx="26162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Working adults sharing a parent's care</a:t>
            </a:r>
            <a:endParaRPr lang="en-US" sz="1200" dirty="0"/>
          </a:p>
        </p:txBody>
      </p:sp>
      <p:sp>
        <p:nvSpPr>
          <p:cNvPr id="9" name="Shape 7"/>
          <p:cNvSpPr/>
          <p:nvPr/>
        </p:nvSpPr>
        <p:spPr>
          <a:xfrm>
            <a:off x="3556000" y="3990529"/>
            <a:ext cx="1162050" cy="355600"/>
          </a:xfrm>
          <a:prstGeom prst="roundRect">
            <a:avLst>
              <a:gd name="adj" fmla="val 14286"/>
            </a:avLst>
          </a:prstGeom>
          <a:solidFill>
            <a:srgbClr val="2F6B57"/>
          </a:solidFill>
          <a:ln/>
        </p:spPr>
      </p:sp>
      <p:sp>
        <p:nvSpPr>
          <p:cNvPr id="10" name="Text 8"/>
          <p:cNvSpPr/>
          <p:nvPr/>
        </p:nvSpPr>
        <p:spPr>
          <a:xfrm>
            <a:off x="9804400" y="4026098"/>
            <a:ext cx="1574800" cy="309860"/>
          </a:xfrm>
          <a:prstGeom prst="rect">
            <a:avLst/>
          </a:prstGeom>
          <a:noFill/>
          <a:ln/>
        </p:spPr>
        <p:txBody>
          <a:bodyPr wrap="square" lIns="0" tIns="0" rIns="0" bIns="0" rtlCol="0" anchor="t">
            <a:normAutofit/>
          </a:bodyPr>
          <a:lstStyle/>
          <a:p>
            <a:pPr marL="0" indent="0" algn="r">
              <a:lnSpc>
                <a:spcPts val="2240"/>
              </a:lnSpc>
              <a:buNone/>
            </a:pPr>
            <a:r>
              <a:rPr lang="en-US" sz="1600" b="1" dirty="0">
                <a:solidFill>
                  <a:srgbClr val="1F2D27"/>
                </a:solidFill>
                <a:latin typeface="Nunito" pitchFamily="34" charset="0"/>
                <a:ea typeface="Nunito" pitchFamily="34" charset="-122"/>
                <a:cs typeface="Nunito" pitchFamily="34" charset="-120"/>
              </a:rPr>
              <a:t>~$35M</a:t>
            </a:r>
            <a:endParaRPr lang="en-US" sz="1600" dirty="0"/>
          </a:p>
        </p:txBody>
      </p:sp>
      <p:sp>
        <p:nvSpPr>
          <p:cNvPr id="11" name="Text 9"/>
          <p:cNvSpPr/>
          <p:nvPr/>
        </p:nvSpPr>
        <p:spPr>
          <a:xfrm>
            <a:off x="812800" y="4790579"/>
            <a:ext cx="26162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~8,400 circles</a:t>
            </a:r>
            <a:endParaRPr lang="en-US" sz="1600" dirty="0"/>
          </a:p>
        </p:txBody>
      </p:sp>
      <p:sp>
        <p:nvSpPr>
          <p:cNvPr id="12" name="Text 10"/>
          <p:cNvSpPr/>
          <p:nvPr/>
        </p:nvSpPr>
        <p:spPr>
          <a:xfrm>
            <a:off x="812800" y="5100439"/>
            <a:ext cx="26162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Our 3-year target, 2% of those</a:t>
            </a:r>
            <a:endParaRPr lang="en-US" sz="1200" dirty="0"/>
          </a:p>
        </p:txBody>
      </p:sp>
      <p:sp>
        <p:nvSpPr>
          <p:cNvPr id="13" name="Shape 11"/>
          <p:cNvSpPr/>
          <p:nvPr/>
        </p:nvSpPr>
        <p:spPr>
          <a:xfrm>
            <a:off x="3556000" y="4874369"/>
            <a:ext cx="38100" cy="355600"/>
          </a:xfrm>
          <a:prstGeom prst="roundRect">
            <a:avLst>
              <a:gd name="adj" fmla="val 50000"/>
            </a:avLst>
          </a:prstGeom>
          <a:solidFill>
            <a:srgbClr val="2F6B57"/>
          </a:solidFill>
          <a:ln/>
        </p:spPr>
      </p:sp>
      <p:sp>
        <p:nvSpPr>
          <p:cNvPr id="14" name="Text 12"/>
          <p:cNvSpPr/>
          <p:nvPr/>
        </p:nvSpPr>
        <p:spPr>
          <a:xfrm>
            <a:off x="9804400" y="4909939"/>
            <a:ext cx="1574800" cy="309860"/>
          </a:xfrm>
          <a:prstGeom prst="rect">
            <a:avLst/>
          </a:prstGeom>
          <a:noFill/>
          <a:ln/>
        </p:spPr>
        <p:txBody>
          <a:bodyPr wrap="square" lIns="0" tIns="0" rIns="0" bIns="0" rtlCol="0" anchor="t">
            <a:normAutofit/>
          </a:bodyPr>
          <a:lstStyle/>
          <a:p>
            <a:pPr marL="0" indent="0" algn="r">
              <a:lnSpc>
                <a:spcPts val="2240"/>
              </a:lnSpc>
              <a:buNone/>
            </a:pPr>
            <a:r>
              <a:rPr lang="en-US" sz="1600" b="1" dirty="0">
                <a:solidFill>
                  <a:srgbClr val="1F2D27"/>
                </a:solidFill>
                <a:latin typeface="Nunito" pitchFamily="34" charset="0"/>
                <a:ea typeface="Nunito" pitchFamily="34" charset="-122"/>
                <a:cs typeface="Nunito" pitchFamily="34" charset="-120"/>
              </a:rPr>
              <a:t>~$700K</a:t>
            </a:r>
            <a:endParaRPr lang="en-US" sz="1600" dirty="0"/>
          </a:p>
        </p:txBody>
      </p:sp>
      <p:sp>
        <p:nvSpPr>
          <p:cNvPr id="15" name="Text 13"/>
          <p:cNvSpPr/>
          <p:nvPr/>
        </p:nvSpPr>
        <p:spPr>
          <a:xfrm>
            <a:off x="812800" y="5618559"/>
            <a:ext cx="1088339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Bars to scale. Yearly revenue at $84 per circle; assumes 3 caregivers per circle and that 60% of working caregivers share care with family. Statistics Canada (2022); CCCE, Caring in Canada (2026).</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Meet coordinators where they ask for help</a:t>
            </a:r>
            <a:endParaRPr lang="en-US" sz="3600" dirty="0"/>
          </a:p>
        </p:txBody>
      </p:sp>
      <p:sp>
        <p:nvSpPr>
          <p:cNvPr id="3" name="Text 1"/>
          <p:cNvSpPr/>
          <p:nvPr/>
        </p:nvSpPr>
        <p:spPr>
          <a:xfrm>
            <a:off x="812800" y="1671290"/>
            <a:ext cx="627888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Where they are</a:t>
            </a:r>
            <a:endParaRPr lang="en-US" sz="1600" dirty="0"/>
          </a:p>
        </p:txBody>
      </p:sp>
      <p:sp>
        <p:nvSpPr>
          <p:cNvPr id="4" name="Text 2"/>
          <p:cNvSpPr/>
          <p:nvPr/>
        </p:nvSpPr>
        <p:spPr>
          <a:xfrm>
            <a:off x="812800" y="1940520"/>
            <a:ext cx="62788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Canadian caregiver Facebook groups, r/AgingParents and r/caregivers.</a:t>
            </a:r>
            <a:endParaRPr lang="en-US" sz="1600" dirty="0"/>
          </a:p>
        </p:txBody>
      </p:sp>
      <p:sp>
        <p:nvSpPr>
          <p:cNvPr id="5" name="Text 3"/>
          <p:cNvSpPr/>
          <p:nvPr/>
        </p:nvSpPr>
        <p:spPr>
          <a:xfrm>
            <a:off x="812800" y="2712641"/>
            <a:ext cx="627888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How we show up</a:t>
            </a:r>
            <a:endParaRPr lang="en-US" sz="1600" dirty="0"/>
          </a:p>
        </p:txBody>
      </p:sp>
      <p:sp>
        <p:nvSpPr>
          <p:cNvPr id="6" name="Text 4"/>
          <p:cNvSpPr/>
          <p:nvPr/>
        </p:nvSpPr>
        <p:spPr>
          <a:xfrm>
            <a:off x="812800" y="2981871"/>
            <a:ext cx="62788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Help first. A free "who does what" care roster template leads into Kindred.</a:t>
            </a:r>
            <a:endParaRPr lang="en-US" sz="1600" dirty="0"/>
          </a:p>
        </p:txBody>
      </p:sp>
      <p:sp>
        <p:nvSpPr>
          <p:cNvPr id="7" name="Text 5"/>
          <p:cNvSpPr/>
          <p:nvPr/>
        </p:nvSpPr>
        <p:spPr>
          <a:xfrm>
            <a:off x="812800" y="3753991"/>
            <a:ext cx="627888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How it spreads</a:t>
            </a:r>
            <a:endParaRPr lang="en-US" sz="1600" dirty="0"/>
          </a:p>
        </p:txBody>
      </p:sp>
      <p:sp>
        <p:nvSpPr>
          <p:cNvPr id="8" name="Text 6"/>
          <p:cNvSpPr/>
          <p:nvPr/>
        </p:nvSpPr>
        <p:spPr>
          <a:xfrm>
            <a:off x="812800" y="4023221"/>
            <a:ext cx="62788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We set up the first 20 circles by hand. Each brings 3–5 relatives who see it work.</a:t>
            </a:r>
            <a:endParaRPr lang="en-US" sz="1600" dirty="0"/>
          </a:p>
        </p:txBody>
      </p:sp>
      <p:sp>
        <p:nvSpPr>
          <p:cNvPr id="9" name="Shape 7"/>
          <p:cNvSpPr/>
          <p:nvPr/>
        </p:nvSpPr>
        <p:spPr>
          <a:xfrm>
            <a:off x="7315200" y="1671290"/>
            <a:ext cx="4064000" cy="2671961"/>
          </a:xfrm>
          <a:prstGeom prst="roundRect">
            <a:avLst>
              <a:gd name="adj" fmla="val 5228"/>
            </a:avLst>
          </a:prstGeom>
          <a:solidFill>
            <a:srgbClr val="E7F2EC"/>
          </a:solidFill>
          <a:ln/>
        </p:spPr>
      </p:sp>
      <p:sp>
        <p:nvSpPr>
          <p:cNvPr id="10" name="Text 8"/>
          <p:cNvSpPr/>
          <p:nvPr/>
        </p:nvSpPr>
        <p:spPr>
          <a:xfrm>
            <a:off x="7620000" y="1976090"/>
            <a:ext cx="355803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F2D27"/>
                </a:solidFill>
                <a:latin typeface="Nunito" pitchFamily="34" charset="0"/>
                <a:ea typeface="Nunito" pitchFamily="34" charset="-122"/>
                <a:cs typeface="Nunito" pitchFamily="34" charset="-120"/>
              </a:rPr>
              <a:t>Two-week test, $0</a:t>
            </a:r>
            <a:endParaRPr lang="en-US" sz="2200" dirty="0"/>
          </a:p>
        </p:txBody>
      </p:sp>
      <p:sp>
        <p:nvSpPr>
          <p:cNvPr id="11" name="Text 9"/>
          <p:cNvSpPr/>
          <p:nvPr/>
        </p:nvSpPr>
        <p:spPr>
          <a:xfrm>
            <a:off x="7620000" y="2463750"/>
            <a:ext cx="3558032" cy="8787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Keep going if</a:t>
            </a:r>
            <a:r>
              <a:rPr lang="en-US" sz="1600" dirty="0">
                <a:solidFill>
                  <a:srgbClr val="1F2D27"/>
                </a:solidFill>
                <a:latin typeface="Nunito" pitchFamily="34" charset="0"/>
                <a:ea typeface="Nunito" pitchFamily="34" charset="-122"/>
                <a:cs typeface="Nunito" pitchFamily="34" charset="-120"/>
              </a:rPr>
              <a:t> 5+ circles have 3+ members each and 2+ families have paid.</a:t>
            </a:r>
            <a:endParaRPr lang="en-US" sz="1600" dirty="0"/>
          </a:p>
        </p:txBody>
      </p:sp>
      <p:sp>
        <p:nvSpPr>
          <p:cNvPr id="12" name="Text 10"/>
          <p:cNvSpPr/>
          <p:nvPr/>
        </p:nvSpPr>
        <p:spPr>
          <a:xfrm>
            <a:off x="7620000" y="3469531"/>
            <a:ext cx="3558032" cy="59432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Change course if</a:t>
            </a:r>
            <a:r>
              <a:rPr lang="en-US" sz="1600" dirty="0">
                <a:solidFill>
                  <a:srgbClr val="1F2D27"/>
                </a:solidFill>
                <a:latin typeface="Nunito" pitchFamily="34" charset="0"/>
                <a:ea typeface="Nunito" pitchFamily="34" charset="-122"/>
                <a:cs typeface="Nunito" pitchFamily="34" charset="-120"/>
              </a:rPr>
              <a:t> fewer than 3 in 30 conversations lead to a trial.</a:t>
            </a:r>
            <a:endParaRPr lang="en-US" sz="1600" dirty="0"/>
          </a:p>
        </p:txBody>
      </p:sp>
      <p:sp>
        <p:nvSpPr>
          <p:cNvPr id="13" name="Evidence"/>
          <p:cNvSpPr txBox="1"/>
          <p:nvPr/>
        </p:nvSpPr>
        <p:spPr>
          <a:xfrm>
            <a:off x="813816" y="4983480"/>
            <a:ext cx="10570464" cy="6858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A trusted organization’s recommendation is the </a:t>
            </a:r>
            <a:r>
              <a:rPr lang="en-US" sz="1600" b="1" dirty="0">
                <a:solidFill>
                  <a:srgbClr val="2F6B57"/>
                </a:solidFill>
                <a:latin typeface="Nunito" pitchFamily="34" charset="0"/>
                <a:ea typeface="Nunito" pitchFamily="34" charset="-122"/>
                <a:cs typeface="Nunito" pitchFamily="34" charset="-120"/>
              </a:rPr>
              <a:t>#1 reason</a:t>
            </a:r>
            <a:r>
              <a:rPr lang="en-US" sz="1600" dirty="0">
                <a:solidFill>
                  <a:srgbClr val="3D4D46"/>
                </a:solidFill>
                <a:latin typeface="Nunito" pitchFamily="34" charset="0"/>
                <a:ea typeface="Nunito" pitchFamily="34" charset="-122"/>
                <a:cs typeface="Nunito" pitchFamily="34" charset="-120"/>
              </a:rPr>
              <a:t> caregivers adopt a tool (131 of 272).</a:t>
            </a:r>
            <a:endParaRPr lang="en-US" sz="1600" dirty="0"/>
          </a:p>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Caregiver Action Network, Caregiver Tech Insights Survey 2026 (272 US family caregivers)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9810750"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Families keep their chat. Kindred adds who said yes.</a:t>
            </a:r>
            <a:endParaRPr lang="en-US" sz="3600" dirty="0"/>
          </a:p>
        </p:txBody>
      </p:sp>
      <p:sp>
        <p:nvSpPr>
          <p:cNvPr id="3" name="Shape 1"/>
          <p:cNvSpPr/>
          <p:nvPr/>
        </p:nvSpPr>
        <p:spPr>
          <a:xfrm>
            <a:off x="812800" y="2180530"/>
            <a:ext cx="10566400" cy="0"/>
          </a:xfrm>
          <a:prstGeom prst="line">
            <a:avLst/>
          </a:prstGeom>
          <a:noFill/>
          <a:ln w="12700">
            <a:solidFill>
              <a:srgbClr val="141413">
                <a:alpha val="22000"/>
              </a:srgbClr>
            </a:solidFill>
            <a:prstDash val="solid"/>
          </a:ln>
        </p:spPr>
      </p:sp>
      <p:sp>
        <p:nvSpPr>
          <p:cNvPr id="4" name="Shape 2"/>
          <p:cNvSpPr/>
          <p:nvPr/>
        </p:nvSpPr>
        <p:spPr>
          <a:xfrm>
            <a:off x="819150" y="2174180"/>
            <a:ext cx="0" cy="2747863"/>
          </a:xfrm>
          <a:prstGeom prst="line">
            <a:avLst/>
          </a:prstGeom>
          <a:noFill/>
          <a:ln w="12700">
            <a:solidFill>
              <a:srgbClr val="141413">
                <a:alpha val="22000"/>
              </a:srgbClr>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52500" y="2313880"/>
          <a:ext cx="10299700" cy="2481165"/>
        </p:xfrm>
        <a:graphic>
          <a:graphicData uri="http://schemas.openxmlformats.org/drawingml/2006/table">
            <a:tbl>
              <a:tblPr/>
              <a:tblGrid>
                <a:gridCol w="3089910">
                  <a:extLst>
                    <a:ext uri="{9D8B030D-6E8A-4147-A177-3AD203B41FA5}">
                      <a16:colId xmlns:a16="http://schemas.microsoft.com/office/drawing/2014/main" val="20000"/>
                    </a:ext>
                  </a:extLst>
                </a:gridCol>
                <a:gridCol w="3398901">
                  <a:extLst>
                    <a:ext uri="{9D8B030D-6E8A-4147-A177-3AD203B41FA5}">
                      <a16:colId xmlns:a16="http://schemas.microsoft.com/office/drawing/2014/main" val="20001"/>
                    </a:ext>
                  </a:extLst>
                </a:gridCol>
                <a:gridCol w="3810889">
                  <a:extLst>
                    <a:ext uri="{9D8B030D-6E8A-4147-A177-3AD203B41FA5}">
                      <a16:colId xmlns:a16="http://schemas.microsoft.com/office/drawing/2014/main" val="20002"/>
                    </a:ext>
                  </a:extLst>
                </a:gridCol>
              </a:tblGrid>
              <a:tr h="439341">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Today they use</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Where it breaks</a:t>
                      </a:r>
                      <a:endParaRPr lang="en-US" sz="1600" dirty="0">
                        <a:latin typeface="Nunito" charset="0"/>
                        <a:ea typeface="Nunito" charset="0"/>
                        <a:cs typeface="Nunito" charset="0"/>
                      </a:endParaRPr>
                    </a:p>
                  </a:txBody>
                  <a:tcPr marL="71120" marR="71120" marT="71120" marB="71120">
                    <a:lnL w="12700" cap="flat" cmpd="sng" algn="ctr">
                      <a:solidFill>
                        <a:srgbClr val="B9C1BC"/>
                      </a:solidFill>
                      <a:prstDash val="solid"/>
                      <a:round/>
                      <a:headEnd type="none" w="med" len="med"/>
                      <a:tailEnd type="none" w="med" len="med"/>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What Kindred adds</a:t>
                      </a:r>
                      <a:endParaRPr lang="en-US" sz="1600" dirty="0">
                        <a:latin typeface="Nunito" charset="0"/>
                        <a:ea typeface="Nunito" charset="0"/>
                        <a:cs typeface="Nunito" charset="0"/>
                      </a:endParaRPr>
                    </a:p>
                  </a:txBody>
                  <a:tcPr marL="71120" marR="71120" marT="71120" marB="71120">
                    <a:lnL w="12700" cap="flat" cmpd="sng" algn="ctr">
                      <a:solidFill>
                        <a:srgbClr val="B9C1BC"/>
                      </a:solidFill>
                      <a:prstDash val="solid"/>
                      <a:round/>
                      <a:headEnd type="none" w="med" len="med"/>
                      <a:tailEnd type="none" w="med" len="med"/>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extLst>
                  <a:ext uri="{0D108BD9-81ED-4DB2-BD59-A6C34878D82A}">
                    <a16:rowId xmlns:a16="http://schemas.microsoft.com/office/drawing/2014/main" val="10000"/>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 group chat</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Tasks get buried; no owner</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Claimed tasks, shared back to the chat</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1"/>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Shared calendars</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Shows when, not who agreed</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Who said yes, and who's free to cover</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2"/>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To-do apps and spreadsheets</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Not built for care</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Claim, decline or ask for cover</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3"/>
                  </a:ext>
                </a:extLst>
              </a:tr>
              <a:tr h="72380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Care apps like CircleCare and CaringBridge</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Ask families to leave their chat</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Works alongside it, plus a weekly summary</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F6B5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7F2EC"/>
                </a:solidFill>
                <a:latin typeface="Nunito" pitchFamily="34" charset="0"/>
                <a:ea typeface="Nunito" pitchFamily="34" charset="-122"/>
                <a:cs typeface="Nunito" pitchFamily="34" charset="-120"/>
              </a:rPr>
              <a:t>Next: 10–20 founding families, November to January</a:t>
            </a:r>
            <a:endParaRPr lang="en-US" sz="1600" dirty="0"/>
          </a:p>
        </p:txBody>
      </p:sp>
      <p:sp>
        <p:nvSpPr>
          <p:cNvPr id="3" name="Text 1"/>
          <p:cNvSpPr>
            <a:spLocks noGrp="1"/>
          </p:cNvSpPr>
          <p:nvPr>
            <p:ph type="title"/>
          </p:nvPr>
        </p:nvSpPr>
        <p:spPr>
          <a:xfrm>
            <a:off x="812800" y="1402060"/>
            <a:ext cx="9810750" cy="1625600"/>
          </a:xfrm>
          <a:prstGeom prst="rect">
            <a:avLst/>
          </a:prstGeom>
          <a:noFill/>
          <a:ln/>
        </p:spPr>
        <p:txBody>
          <a:bodyPr wrap="square" lIns="0" tIns="0" rIns="0" bIns="0" rtlCol="0" anchor="t">
            <a:normAutofit/>
          </a:bodyPr>
          <a:lstStyle/>
          <a:p>
            <a:pPr marL="0" indent="0" algn="l">
              <a:lnSpc>
                <a:spcPts val="6300"/>
              </a:lnSpc>
              <a:buNone/>
            </a:pPr>
            <a:r>
              <a:rPr lang="en-US" sz="6000" b="1" i="0" dirty="0">
                <a:solidFill>
                  <a:srgbClr val="FBF8F1"/>
                </a:solidFill>
                <a:latin typeface="Nunito" pitchFamily="34" charset="0"/>
                <a:ea typeface="Nunito" pitchFamily="34" charset="-122"/>
                <a:cs typeface="Nunito" pitchFamily="34" charset="-120"/>
              </a:rPr>
              <a:t>Stop being the only one who remembers.</a:t>
            </a:r>
            <a:endParaRPr lang="en-US" sz="6000" dirty="0"/>
          </a:p>
        </p:txBody>
      </p:sp>
      <p:sp>
        <p:nvSpPr>
          <p:cNvPr id="4" name="Shape 2"/>
          <p:cNvSpPr/>
          <p:nvPr/>
        </p:nvSpPr>
        <p:spPr>
          <a:xfrm>
            <a:off x="812800" y="4921300"/>
            <a:ext cx="10566400" cy="0"/>
          </a:xfrm>
          <a:prstGeom prst="line">
            <a:avLst/>
          </a:prstGeom>
          <a:noFill/>
          <a:ln w="12700">
            <a:solidFill>
              <a:srgbClr val="8CC3AC"/>
            </a:solidFill>
            <a:prstDash val="solid"/>
          </a:ln>
        </p:spPr>
      </p:sp>
      <p:sp>
        <p:nvSpPr>
          <p:cNvPr id="5" name="Text 3"/>
          <p:cNvSpPr/>
          <p:nvPr/>
        </p:nvSpPr>
        <p:spPr>
          <a:xfrm>
            <a:off x="812800" y="5181650"/>
            <a:ext cx="512775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BF8F1"/>
                </a:solidFill>
                <a:latin typeface="Nunito" pitchFamily="34" charset="0"/>
                <a:ea typeface="Nunito" pitchFamily="34" charset="-122"/>
                <a:cs typeface="Nunito" pitchFamily="34" charset="-120"/>
              </a:rPr>
              <a:t>The one number we track</a:t>
            </a:r>
            <a:endParaRPr lang="en-US" sz="1600" dirty="0"/>
          </a:p>
        </p:txBody>
      </p:sp>
      <p:sp>
        <p:nvSpPr>
          <p:cNvPr id="6" name="Text 4"/>
          <p:cNvSpPr/>
          <p:nvPr/>
        </p:nvSpPr>
        <p:spPr>
          <a:xfrm>
            <a:off x="812800" y="5476280"/>
            <a:ext cx="5127752"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7F2EC"/>
                </a:solidFill>
                <a:latin typeface="Nunito" pitchFamily="34" charset="0"/>
                <a:ea typeface="Nunito" pitchFamily="34" charset="-122"/>
                <a:cs typeface="Nunito" pitchFamily="34" charset="-120"/>
              </a:rPr>
              <a:t>Weekly circles where helpers, not just the coordinator, complete tasks</a:t>
            </a:r>
            <a:endParaRPr lang="en-US" sz="1600" dirty="0"/>
          </a:p>
        </p:txBody>
      </p:sp>
      <p:sp>
        <p:nvSpPr>
          <p:cNvPr id="7" name="Text 5"/>
          <p:cNvSpPr/>
          <p:nvPr/>
        </p:nvSpPr>
        <p:spPr>
          <a:xfrm>
            <a:off x="6400800" y="5181650"/>
            <a:ext cx="512775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BF8F1"/>
                </a:solidFill>
                <a:latin typeface="Nunito" pitchFamily="34" charset="0"/>
                <a:ea typeface="Nunito" pitchFamily="34" charset="-122"/>
                <a:cs typeface="Nunito" pitchFamily="34" charset="-120"/>
              </a:rPr>
              <a:t>Our ask</a:t>
            </a:r>
            <a:endParaRPr lang="en-US" sz="1600" dirty="0"/>
          </a:p>
        </p:txBody>
      </p:sp>
      <p:sp>
        <p:nvSpPr>
          <p:cNvPr id="8" name="Text 6"/>
          <p:cNvSpPr/>
          <p:nvPr/>
        </p:nvSpPr>
        <p:spPr>
          <a:xfrm>
            <a:off x="6400800" y="5476280"/>
            <a:ext cx="5127752"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7F2EC"/>
                </a:solidFill>
                <a:latin typeface="Nunito" pitchFamily="34" charset="0"/>
                <a:ea typeface="Nunito" pitchFamily="34" charset="-122"/>
                <a:cs typeface="Nunito" pitchFamily="34" charset="-120"/>
              </a:rPr>
              <a:t>Introductions to caregiver groups and elder-care organizations</a:t>
            </a:r>
            <a:endParaRPr lang="en-US" sz="1600" dirty="0"/>
          </a:p>
        </p:txBody>
      </p:sp>
    </p:spTree>
  </p:cSld>
  <p:clrMapOvr>
    <a:masterClrMapping/>
  </p:clrMapOvr>
</p:sld>
</file>

<file path=ppt/theme/theme1.xml><?xml version="1.0" encoding="utf-8"?>
<a:theme xmlns:a="http://schemas.openxmlformats.org/drawingml/2006/main" name="Kindred Demo Day Pitch (redesign)">
  <a:themeElements>
    <a:clrScheme name="Kindred Demo Day Pitch (redesign)">
      <a:dk1>
        <a:srgbClr val="1F2D27"/>
      </a:dk1>
      <a:lt1>
        <a:srgbClr val="FBF8F1"/>
      </a:lt1>
      <a:dk2>
        <a:srgbClr val="56605A"/>
      </a:dk2>
      <a:lt2>
        <a:srgbClr val="E5E4DD"/>
      </a:lt2>
      <a:accent1>
        <a:srgbClr val="2F6B57"/>
      </a:accent1>
      <a:accent2>
        <a:srgbClr val="8A5A12"/>
      </a:accent2>
      <a:accent3>
        <a:srgbClr val="8CC3AC"/>
      </a:accent3>
      <a:accent4>
        <a:srgbClr val="3D4D46"/>
      </a:accent4>
      <a:accent5>
        <a:srgbClr val="5B6B63"/>
      </a:accent5>
      <a:accent6>
        <a:srgbClr val="9AA0A6"/>
      </a:accent6>
      <a:hlink>
        <a:srgbClr val="0563C1"/>
      </a:hlink>
      <a:folHlink>
        <a:srgbClr val="954F72"/>
      </a:folHlink>
    </a:clrScheme>
    <a:fontScheme name="Kindred Demo Day Pitch (redesign)">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12</Slides>
  <Notes>12</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Kindred Demo Day Pitch (redesign)</vt:lpstr>
      <vt:lpstr>Who's taking Dad on Thursday?</vt:lpstr>
      <vt:lpstr>Everyone reacted. Nobody went.</vt:lpstr>
      <vt:lpstr>[X of N] caregivers had care slip in the last three months.</vt:lpstr>
      <vt:lpstr>What we heard, and what we built</vt:lpstr>
      <vt:lpstr>A chat records what was said. Kindred records who said yes.</vt:lpstr>
      <vt:lpstr>Simple enough for every relative</vt:lpstr>
      <vt:lpstr>The core loop, on two phones</vt:lpstr>
      <vt:lpstr>The coordinator pays. Everyone they invite is free.</vt:lpstr>
      <vt:lpstr>420,000 Canadian families share a parent's care.</vt:lpstr>
      <vt:lpstr>Meet coordinators where they ask for help</vt:lpstr>
      <vt:lpstr>Families keep their chat. Kindred adds who said yes.</vt:lpstr>
      <vt:lpstr>Stop being the only one who remembers.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Kindred Demo Day Pitch (redesign)</dc:title>
  <dc:subject/>
  <dc:creator/>
  <cp:lastModifiedBy/>
  <cp:revision>20</cp:revision>
  <dcterms:created xsi:type="dcterms:W3CDTF">2026-10-08T19:30:13Z</dcterms:created>
  <dcterms:modified xsi:type="dcterms:W3CDTF">2026-10-14T22:52:29Z</dcterms:modified>
</cp:coreProperties>
</file>